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Google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GoogleSans-regular.fntdata"/><Relationship Id="rId24" Type="http://schemas.openxmlformats.org/officeDocument/2006/relationships/font" Target="fonts/GoogleSans-bold.fntdata"/><Relationship Id="rId25" Type="http://schemas.openxmlformats.org/officeDocument/2006/relationships/font" Target="fonts/GoogleSans-italic.fntdata"/><Relationship Id="rId26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0" y="1143000"/>
            <a:ext cx="119874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" name="Google Shape;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9075" y="1143000"/>
            <a:ext cx="147255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" name="Google Shape;1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79" y="1143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/>
        </p:nvSpPr>
        <p:spPr>
          <a:xfrm>
            <a:off x="960120" y="2148840"/>
            <a:ext cx="7223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Data Drift in a Seq2Seq 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for Trajectory Prediction in RoboCup SSL</a:t>
            </a:r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1325880" y="3154680"/>
            <a:ext cx="6492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Ivan G. Yamasaki · Advisors: Prof. Dr. Marcos R. O. A. Máximo / Prof. Dr. Paulo M. Tasinaffo</a:t>
            </a:r>
            <a:r>
              <a:rPr lang="en-US" sz="105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/>
            </a: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/>
            </a:r>
            <a:r>
              <a:rPr lang="en-US" sz="105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/>
            </a: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1325880" y="3511296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Instituto Tecnológico de Aeronáutica · July 2026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977639" y="4069080"/>
            <a:ext cx="1188720" cy="50292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Introduction and motivation</a:t>
            </a: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502920" y="850392"/>
            <a:ext cx="804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More accurate prediction today; better league strategies tomorrow</a:t>
            </a:r>
            <a:r>
              <a:rPr lang="en-US" sz="1000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/>
            </a: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/>
            </a:r>
            <a:r>
              <a:rPr lang="en-US" sz="1000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/>
            </a: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/>
            </a:r>
            <a:endParaRPr/>
          </a:p>
        </p:txBody>
      </p:sp>
      <p:cxnSp>
        <p:nvCxnSpPr>
          <p:cNvPr id="25" name="Google Shape;25;p4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" name="Google Shape;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" name="Google Shape;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02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40075" y="1397521"/>
            <a:ext cx="3291600" cy="8808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04666" y="1464734"/>
            <a:ext cx="63900" cy="732000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154746" y="1564232"/>
            <a:ext cx="257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CONTEXT</a:t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1010900" y="1808447"/>
            <a:ext cx="271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Trajectory prediction supports real-time decisions in the Small Size League.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0075" y="2421446"/>
            <a:ext cx="3291600" cy="8808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04666" y="2488659"/>
            <a:ext cx="63900" cy="732000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154746" y="2562310"/>
            <a:ext cx="257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00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GAP</a:t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1010900" y="2806537"/>
            <a:ext cx="2920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 model trained in one season can silently degrade in future league seasons.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63" y="3441971"/>
            <a:ext cx="3291600" cy="8808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04654" y="3509184"/>
            <a:ext cx="63900" cy="732000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1154733" y="3600066"/>
            <a:ext cx="257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00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1010887" y="3844293"/>
            <a:ext cx="2920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Measure the drift, explain its origin, and define how to adapt and when to retrain.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2" name="Google Shape;42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1" y="1399221"/>
            <a:ext cx="3451638" cy="29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Research questions</a:t>
            </a:r>
            <a:endParaRPr/>
          </a:p>
        </p:txBody>
      </p:sp>
      <p:sp>
        <p:nvSpPr>
          <p:cNvPr id="49" name="Google Shape;49;p5"/>
          <p:cNvSpPr txBox="1"/>
          <p:nvPr/>
        </p:nvSpPr>
        <p:spPr>
          <a:xfrm>
            <a:off x="502920" y="850392"/>
            <a:ext cx="804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 temporal evaluation of the seq2seq predictor </a:t>
            </a:r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" name="Google Shape;51;p5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03</a:t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85800" y="1691640"/>
            <a:ext cx="242316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50392" y="1892808"/>
            <a:ext cx="64008" cy="165506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1069848" y="1892808"/>
            <a:ext cx="18745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How much?</a:t>
            </a: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1069848" y="2249424"/>
            <a:ext cx="18744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How does ADE change between 2019 and 2025?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383280" y="1691640"/>
            <a:ext cx="242316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547872" y="1892808"/>
            <a:ext cx="64008" cy="165506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3767328" y="1892808"/>
            <a:ext cx="18745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Why?</a:t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3767328" y="2249424"/>
            <a:ext cx="1874519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What share comes from covariate shift, and which variables explain it?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080760" y="1691640"/>
            <a:ext cx="242316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245352" y="1892808"/>
            <a:ext cx="64008" cy="165506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6464808" y="1892808"/>
            <a:ext cx="18745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What to do?</a:t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6464808" y="2249424"/>
            <a:ext cx="1874519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How to adapt without forgetting, and how to signal when to retrain?</a:t>
            </a:r>
            <a:endParaRPr/>
          </a:p>
        </p:txBody>
      </p:sp>
      <p:pic>
        <p:nvPicPr>
          <p:cNvPr descr="image.pn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" name="Google Shape;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" name="Google Shape;6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Data and protocol</a:t>
            </a:r>
            <a:endParaRPr/>
          </a:p>
        </p:txBody>
      </p:sp>
      <p:sp>
        <p:nvSpPr>
          <p:cNvPr id="73" name="Google Shape;73;p6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Official logs from the RoboCup SSL world championships</a:t>
            </a:r>
            <a:endParaRPr/>
          </a:p>
        </p:txBody>
      </p:sp>
      <p:cxnSp>
        <p:nvCxnSpPr>
          <p:cNvPr id="74" name="Google Shape;74;p6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5" name="Google Shape;75;p6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04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594360" y="1691640"/>
            <a:ext cx="2423160" cy="21488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6"/>
          <p:cNvCxnSpPr/>
          <p:nvPr/>
        </p:nvCxnSpPr>
        <p:spPr>
          <a:xfrm>
            <a:off x="594360" y="1691640"/>
            <a:ext cx="2423160" cy="0"/>
          </a:xfrm>
          <a:prstGeom prst="straightConnector1">
            <a:avLst/>
          </a:prstGeom>
          <a:noFill/>
          <a:ln cap="flat" cmpd="sng" w="30475">
            <a:solidFill>
              <a:srgbClr val="8D0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8" name="Google Shape;78;p6"/>
          <p:cNvSpPr txBox="1"/>
          <p:nvPr/>
        </p:nvSpPr>
        <p:spPr>
          <a:xfrm>
            <a:off x="822960" y="19659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1 · Dataset</a:t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822960" y="2487168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Official logs 2019–2025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6 Division A games per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tournament · 36 in total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no competition in 2020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3383279" y="1691640"/>
            <a:ext cx="2423160" cy="21488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6"/>
          <p:cNvCxnSpPr/>
          <p:nvPr/>
        </p:nvCxnSpPr>
        <p:spPr>
          <a:xfrm>
            <a:off x="3383279" y="1691640"/>
            <a:ext cx="2423161" cy="0"/>
          </a:xfrm>
          <a:prstGeom prst="straightConnector1">
            <a:avLst/>
          </a:prstGeom>
          <a:noFill/>
          <a:ln cap="flat" cmpd="sng" w="30475">
            <a:solidFill>
              <a:srgbClr val="8D0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2" name="Google Shape;82;p6"/>
          <p:cNvSpPr txBox="1"/>
          <p:nvPr/>
        </p:nvSpPr>
        <p:spPr>
          <a:xfrm>
            <a:off x="3611879" y="19659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2 · Stream</a:t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3611879" y="2487168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8k windows/game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288k trajectories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temporal order preserved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172200" y="1691640"/>
            <a:ext cx="2423160" cy="21488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6"/>
          <p:cNvCxnSpPr/>
          <p:nvPr/>
        </p:nvCxnSpPr>
        <p:spPr>
          <a:xfrm>
            <a:off x="6172200" y="1691640"/>
            <a:ext cx="2423160" cy="0"/>
          </a:xfrm>
          <a:prstGeom prst="straightConnector1">
            <a:avLst/>
          </a:prstGeom>
          <a:noFill/>
          <a:ln cap="flat" cmpd="sng" w="30475">
            <a:solidFill>
              <a:srgbClr val="8D0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6" name="Google Shape;86;p6"/>
          <p:cNvSpPr txBox="1"/>
          <p:nvPr/>
        </p:nvSpPr>
        <p:spPr>
          <a:xfrm>
            <a:off x="6400800" y="19659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3 · Evaluation</a:t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6400800" y="2487168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ADE in millimeters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horizons 30→15 and 60→30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2019 = reference</a:t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685800" y="409651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The baseline uses the six 2019 games: with a single game, ADE ranges from 4.53 to 6.20 mm.</a:t>
            </a:r>
            <a:endParaRPr/>
          </a:p>
        </p:txBody>
      </p:sp>
      <p:pic>
        <p:nvPicPr>
          <p:cNvPr descr="image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Model and baseline</a:t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 clean comparison between a learned model and a fixed kinematic comparator</a:t>
            </a:r>
            <a:endParaRPr/>
          </a:p>
        </p:txBody>
      </p:sp>
      <p:cxnSp>
        <p:nvCxnSpPr>
          <p:cNvPr id="99" name="Google Shape;99;p7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0" name="Google Shape;100;p7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05</a:t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40080" y="1737360"/>
            <a:ext cx="2331720" cy="1874519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841247" y="20116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Input</a:t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841247" y="2487168"/>
            <a:ext cx="1920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[x, y, vx, vy, sin ψ, cos ψ]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ψ = robot orientation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30 / 60 observed steps</a:t>
            </a:r>
            <a:endParaRPr/>
          </a:p>
        </p:txBody>
      </p:sp>
      <p:sp>
        <p:nvSpPr>
          <p:cNvPr id="104" name="Google Shape;104;p7"/>
          <p:cNvSpPr txBox="1"/>
          <p:nvPr/>
        </p:nvSpPr>
        <p:spPr>
          <a:xfrm>
            <a:off x="2999232" y="25328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→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383280" y="1737360"/>
            <a:ext cx="2331720" cy="1874519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3584448" y="20116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Seq2Seq</a:t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3584448" y="248716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LSTM encoder (128)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additive attention (Bahdanau et al.)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autoregressive decoder</a:t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5742432" y="25328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→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126480" y="1737360"/>
            <a:ext cx="2331720" cy="1874519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6327648" y="20116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Output</a:t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6327648" y="2487168"/>
            <a:ext cx="192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15 / 30 future positions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ADE as the metric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baseline: constant-velocity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Kalman filter</a:t>
            </a:r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1234440" y="4069080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The model predicts incremental velocities, so it is directly sensitive to kinematic changes.</a:t>
            </a:r>
            <a:endParaRPr/>
          </a:p>
        </p:txBody>
      </p:sp>
      <p:pic>
        <p:nvPicPr>
          <p:cNvPr descr="image.png" id="113" name="Google Shape;1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Result 1 — the drift is real</a:t>
            </a:r>
            <a:endParaRPr/>
          </a:p>
        </p:txBody>
      </p:sp>
      <p:sp>
        <p:nvSpPr>
          <p:cNvPr id="122" name="Google Shape;122;p8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Accuracy loss grows as we move away from the training season</a:t>
            </a:r>
            <a:endParaRPr/>
          </a:p>
        </p:txBody>
      </p:sp>
      <p:cxnSp>
        <p:nvCxnSpPr>
          <p:cNvPr id="123" name="Google Shape;123;p8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4" name="Google Shape;124;p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06</a:t>
            </a:r>
            <a:endParaRPr/>
          </a:p>
        </p:txBody>
      </p:sp>
      <p:pic>
        <p:nvPicPr>
          <p:cNvPr descr="_fig_degradacao_pt.png" id="125" name="Google Shape;1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81328"/>
            <a:ext cx="777240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 txBox="1"/>
          <p:nvPr/>
        </p:nvSpPr>
        <p:spPr>
          <a:xfrm>
            <a:off x="777240" y="4279392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These are two separate effects: the 2021 jump (simulated tournament) and the gradual trend from 2022 to 2025, both measured against 2019.</a:t>
            </a:r>
            <a:endParaRPr/>
          </a:p>
        </p:txBody>
      </p:sp>
      <p:pic>
        <p:nvPicPr>
          <p:cNvPr descr="image.png" id="127" name="Google Shape;1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Result 2 — acceleration leads the change</a:t>
            </a:r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The kinematic tail explains where the new regime comes in</a:t>
            </a:r>
            <a:endParaRPr/>
          </a:p>
        </p:txBody>
      </p:sp>
      <p:cxnSp>
        <p:nvCxnSpPr>
          <p:cNvPr id="137" name="Google Shape;137;p9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8" name="Google Shape;138;p9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07</a:t>
            </a:r>
            <a:endParaRPr/>
          </a:p>
        </p:txBody>
      </p:sp>
      <p:pic>
        <p:nvPicPr>
          <p:cNvPr descr="_fig_drift_cinematico_pt.png"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481328"/>
            <a:ext cx="7863840" cy="2542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 txBox="1"/>
          <p:nvPr/>
        </p:nvSpPr>
        <p:spPr>
          <a:xfrm>
            <a:off x="685800" y="4270248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KS and Wasserstein drift away from the 2019 baseline; accel_p99 is associated with the per-game ADE increase.</a:t>
            </a:r>
            <a:endParaRPr/>
          </a:p>
        </p:txBody>
      </p:sp>
      <p:pic>
        <p:nvPicPr>
          <p:cNvPr descr="image.png" id="141" name="Google Shape;14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Result 3 — covariate shift predominates</a:t>
            </a:r>
            <a:endParaRPr/>
          </a:p>
        </p:txBody>
      </p:sp>
      <p:sp>
        <p:nvSpPr>
          <p:cNvPr id="150" name="Google Shape;150;p10"/>
          <p:cNvSpPr txBox="1"/>
          <p:nvPr/>
        </p:nvSpPr>
        <p:spPr>
          <a:xfrm>
            <a:off x="502920" y="850392"/>
            <a:ext cx="804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Reweighting 2019 examples with LSIF recovers most of the excess error</a:t>
            </a:r>
            <a:endParaRPr/>
          </a:p>
        </p:txBody>
      </p:sp>
      <p:cxnSp>
        <p:nvCxnSpPr>
          <p:cNvPr id="151" name="Google Shape;151;p10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2" name="Google Shape;152;p10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08</a:t>
            </a:r>
            <a:endParaRPr/>
          </a:p>
        </p:txBody>
      </p:sp>
      <p:pic>
        <p:nvPicPr>
          <p:cNvPr descr="_fig_iw_pt.png"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554480"/>
            <a:ext cx="704088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 txBox="1"/>
          <p:nvPr/>
        </p:nvSpPr>
        <p:spPr>
          <a:xfrm>
            <a:off x="731520" y="4434840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3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LSIF attributes 59–72% of the excess to covariate shift; an independent classifier confirms change in every season.</a:t>
            </a:r>
            <a:endParaRPr/>
          </a:p>
        </p:txBody>
      </p:sp>
      <p:pic>
        <p:nvPicPr>
          <p:cNvPr descr="image.png" id="155" name="Google Shape;1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Adapting to drift</a:t>
            </a:r>
            <a:endParaRPr/>
          </a:p>
        </p:txBody>
      </p:sp>
      <p:sp>
        <p:nvSpPr>
          <p:cNvPr id="164" name="Google Shape;164;p11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The goal is to capture the new regime without losing performance on the old one</a:t>
            </a:r>
            <a:endParaRPr/>
          </a:p>
        </p:txBody>
      </p:sp>
      <p:cxnSp>
        <p:nvCxnSpPr>
          <p:cNvPr id="165" name="Google Shape;165;p11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6" name="Google Shape;166;p11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09</a:t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685800" y="1554480"/>
            <a:ext cx="246888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850392" y="175564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1069848" y="17556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COMMON PROTOCOL</a:t>
            </a:r>
            <a:endParaRPr/>
          </a:p>
        </p:txBody>
      </p:sp>
      <p:sp>
        <p:nvSpPr>
          <p:cNvPr id="170" name="Google Shape;170;p11"/>
          <p:cNvSpPr txBox="1"/>
          <p:nvPr/>
        </p:nvSpPr>
        <p:spPr>
          <a:xfrm>
            <a:off x="1069848" y="2112264"/>
            <a:ext cx="192024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Old regime: 2019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New data: 2022–2025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500 trajectories per game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2021 excluded (simulated tournament)</a:t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3337560" y="1554480"/>
            <a:ext cx="246888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3502152" y="175564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3721608" y="17556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LIGHT UPDATE</a:t>
            </a:r>
            <a:endParaRPr/>
          </a:p>
        </p:txBody>
      </p:sp>
      <p:sp>
        <p:nvSpPr>
          <p:cNvPr id="174" name="Google Shape;174;p11"/>
          <p:cNvSpPr txBox="1"/>
          <p:nvPr/>
        </p:nvSpPr>
        <p:spPr>
          <a:xfrm>
            <a:off x="3721608" y="2112264"/>
            <a:ext cx="192024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Frozen encoder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 trainable decoder layers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lr 10⁻⁵ · 5 epochs</a:t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5989320" y="1554480"/>
            <a:ext cx="246888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153912" y="175564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6373368" y="17556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CRITERION</a:t>
            </a:r>
            <a:endParaRPr/>
          </a:p>
        </p:txBody>
      </p:sp>
      <p:sp>
        <p:nvSpPr>
          <p:cNvPr id="178" name="Google Shape;178;p11"/>
          <p:cNvSpPr txBox="1"/>
          <p:nvPr/>
        </p:nvSpPr>
        <p:spPr>
          <a:xfrm>
            <a:off x="6373368" y="2112264"/>
            <a:ext cx="192024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cat_ratio = fraction of old trajectories that get worse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Lower is better: it measures catastrophic forgetting</a:t>
            </a:r>
            <a:endParaRPr/>
          </a:p>
        </p:txBody>
      </p:sp>
      <p:pic>
        <p:nvPicPr>
          <p:cNvPr descr="image.png"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Result 4 — weighted replay is the best answer</a:t>
            </a:r>
            <a:endParaRPr/>
          </a:p>
        </p:txBody>
      </p:sp>
      <p:sp>
        <p:nvSpPr>
          <p:cNvPr id="188" name="Google Shape;188;p12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Restricting adaptation to the most extreme acceleration slice worsens forgetting</a:t>
            </a:r>
            <a:endParaRPr/>
          </a:p>
        </p:txBody>
      </p:sp>
      <p:cxnSp>
        <p:nvCxnSpPr>
          <p:cNvPr id="189" name="Google Shape;189;p12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0" name="Google Shape;190;p12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10</a:t>
            </a:r>
            <a:endParaRPr/>
          </a:p>
        </p:txBody>
      </p:sp>
      <p:pic>
        <p:nvPicPr>
          <p:cNvPr descr="_fig_finetune_pt.png" id="191" name="Google Shape;1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81328"/>
            <a:ext cx="7955279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2"/>
          <p:cNvSpPr txBox="1"/>
          <p:nvPr/>
        </p:nvSpPr>
        <p:spPr>
          <a:xfrm>
            <a:off x="685800" y="422452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4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Light fine-tuning reduces cat_ratio from 0.82 to ~0.46. Importance-weighted replay reaches the lowest value (0.417); EWC is inert.</a:t>
            </a:r>
            <a:endParaRPr/>
          </a:p>
        </p:txBody>
      </p:sp>
      <p:pic>
        <p:nvPicPr>
          <p:cNvPr descr="image.png" id="193" name="Google Shape;19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Online detection</a:t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502920" y="850392"/>
            <a:ext cx="804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From the statistical diagnosis of ADWIN / KSWIN to the operational decision to retrain</a:t>
            </a:r>
            <a:endParaRPr/>
          </a:p>
        </p:txBody>
      </p:sp>
      <p:cxnSp>
        <p:nvCxnSpPr>
          <p:cNvPr id="203" name="Google Shape;203;p13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4" name="Google Shape;204;p13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11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594360" y="1737360"/>
            <a:ext cx="246888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822960" y="199339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01  Signal</a:t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822960" y="2523744"/>
            <a:ext cx="19385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Per-trajectory ADE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locally normalized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median + MAD (w=200)</a:t>
            </a: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3116562" y="2578608"/>
            <a:ext cx="292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→</a:t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3429000" y="1737360"/>
            <a:ext cx="246888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3657600" y="199339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02  Calibration</a:t>
            </a:r>
            <a:endParaRPr/>
          </a:p>
        </p:txBody>
      </p:sp>
      <p:sp>
        <p:nvSpPr>
          <p:cNvPr id="211" name="Google Shape;211;p13"/>
          <p:cNvSpPr txBox="1"/>
          <p:nvPr/>
        </p:nvSpPr>
        <p:spPr>
          <a:xfrm>
            <a:off x="3657600" y="2523744"/>
            <a:ext cx="19385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ADWIN on a 96-config grid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2-fold by games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separate selection and test</a:t>
            </a:r>
            <a:endParaRPr/>
          </a:p>
        </p:txBody>
      </p:sp>
      <p:sp>
        <p:nvSpPr>
          <p:cNvPr id="212" name="Google Shape;212;p13"/>
          <p:cNvSpPr txBox="1"/>
          <p:nvPr/>
        </p:nvSpPr>
        <p:spPr>
          <a:xfrm>
            <a:off x="5951202" y="2578608"/>
            <a:ext cx="292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→</a:t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6263640" y="1737360"/>
            <a:ext cx="246888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6492240" y="199339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03  Action</a:t>
            </a:r>
            <a:endParaRPr/>
          </a:p>
        </p:txBody>
      </p:sp>
      <p:sp>
        <p:nvSpPr>
          <p:cNvPr id="215" name="Google Shape;215;p13"/>
          <p:cNvSpPr txBox="1"/>
          <p:nvPr/>
        </p:nvSpPr>
        <p:spPr>
          <a:xfrm>
            <a:off x="6492240" y="2523744"/>
            <a:ext cx="19385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primary alarm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→ retrain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auxiliary layers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→ monitor and confirm</a:t>
            </a:r>
            <a:endParaRPr/>
          </a:p>
        </p:txBody>
      </p:sp>
      <p:sp>
        <p:nvSpPr>
          <p:cNvPr id="216" name="Google Shape;216;p13"/>
          <p:cNvSpPr txBox="1"/>
          <p:nvPr/>
        </p:nvSpPr>
        <p:spPr>
          <a:xfrm>
            <a:off x="1005840" y="4178808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Operational question: is the signal reliable enough to trigger retraining?</a:t>
            </a:r>
            <a:endParaRPr/>
          </a:p>
        </p:txBody>
      </p:sp>
      <p:pic>
        <p:nvPicPr>
          <p:cNvPr descr="image.png" id="217" name="Google Shape;2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Layered detection architecture</a:t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Based exclusively on the paper's protocol and results</a:t>
            </a:r>
            <a:endParaRPr/>
          </a:p>
        </p:txBody>
      </p:sp>
      <p:cxnSp>
        <p:nvCxnSpPr>
          <p:cNvPr id="227" name="Google Shape;227;p14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8" name="Google Shape;228;p14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12</a:t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640080" y="1554480"/>
            <a:ext cx="1234440" cy="566928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713231" y="1673352"/>
            <a:ext cx="10881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Layer</a:t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1920240" y="1554480"/>
            <a:ext cx="2148840" cy="566928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1993392" y="1673352"/>
            <a:ext cx="20025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Signal</a:t>
            </a: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4160520" y="1554480"/>
            <a:ext cx="1508760" cy="566928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 txBox="1"/>
          <p:nvPr/>
        </p:nvSpPr>
        <p:spPr>
          <a:xfrm>
            <a:off x="4233672" y="1673352"/>
            <a:ext cx="1362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FAR / 1k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(A / B)</a:t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5852160" y="1554480"/>
            <a:ext cx="1234440" cy="566928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5925312" y="1673352"/>
            <a:ext cx="10881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Coverage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(A / B)</a:t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7178040" y="1554480"/>
            <a:ext cx="1188720" cy="566928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7251192" y="1673352"/>
            <a:ext cx="10424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Action</a:t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640080" y="2212848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694944" y="2322576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Primary</a:t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1920240" y="2212848"/>
            <a:ext cx="21488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1975104" y="2322576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Seq2seq ADE</a:t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4160520" y="2212848"/>
            <a:ext cx="150876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4215383" y="2322576"/>
            <a:ext cx="13990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0.042 / 0.125</a:t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5852160" y="2212848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5907024" y="2322576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5/5 · 4/5</a:t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7178040" y="2212848"/>
            <a:ext cx="118872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7232903" y="2322576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retrain</a:t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640080" y="2697480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694944" y="2807208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Surveillance</a:t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1920240" y="2697480"/>
            <a:ext cx="21488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1975104" y="2807208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accel_p95</a:t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4160520" y="2697480"/>
            <a:ext cx="150876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4215383" y="2807208"/>
            <a:ext cx="13990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0.292 / 0.250</a:t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5852160" y="2697480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5907024" y="2807208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5/5 · 5/5</a:t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7178040" y="2697480"/>
            <a:ext cx="118872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7232903" y="2807208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monitor</a:t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640080" y="3182112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694944" y="3291840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Confirmation</a:t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1920240" y="3182112"/>
            <a:ext cx="21488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1975104" y="3291840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AND(ADE, accel)</a:t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4160520" y="3182112"/>
            <a:ext cx="150876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4215383" y="3291840"/>
            <a:ext cx="13990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0.000 / 0.000</a:t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5852160" y="3182112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5907024" y="3291840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3/5 · 2/5</a:t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7178040" y="3182112"/>
            <a:ext cx="118872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7232903" y="3291840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confirm</a:t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640080" y="3666744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694944" y="3776472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Corroboration</a:t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1920240" y="3666744"/>
            <a:ext cx="21488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1975104" y="3776472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Kalman filter ADE</a:t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4160520" y="3666744"/>
            <a:ext cx="150876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4215383" y="3776472"/>
            <a:ext cx="13990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0.167 / 0.083</a:t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5852160" y="3666744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5907024" y="3776472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5/5 · 5/5</a:t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7178040" y="3666744"/>
            <a:ext cx="118872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7232903" y="3776472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redundancy</a:t>
            </a:r>
            <a:endParaRPr/>
          </a:p>
        </p:txBody>
      </p:sp>
      <p:sp>
        <p:nvSpPr>
          <p:cNvPr id="279" name="Google Shape;279;p14"/>
          <p:cNvSpPr txBox="1"/>
          <p:nvPr/>
        </p:nvSpPr>
        <p:spPr>
          <a:xfrm>
            <a:off x="685800" y="4434840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19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Out-of-sample results. The acceleration layer anticipates the error layer in 8 of 10 yearly folds.</a:t>
            </a:r>
            <a:endParaRPr/>
          </a:p>
        </p:txBody>
      </p:sp>
      <p:pic>
        <p:nvPicPr>
          <p:cNvPr descr="image.png" id="280" name="Google Shape;2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Result 5 — a reliable primary detector</a:t>
            </a:r>
            <a:endParaRPr/>
          </a:p>
        </p:txBody>
      </p:sp>
      <p:sp>
        <p:nvSpPr>
          <p:cNvPr id="289" name="Google Shape;289;p15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ADWIN on the normalized error achieves a low out-of-sample alarm rate</a:t>
            </a:r>
            <a:endParaRPr/>
          </a:p>
        </p:txBody>
      </p:sp>
      <p:cxnSp>
        <p:nvCxnSpPr>
          <p:cNvPr id="290" name="Google Shape;290;p15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1" name="Google Shape;291;p15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13</a:t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640080" y="1417320"/>
            <a:ext cx="2487168" cy="16002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822959" y="1636776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0.042 – 0.125</a:t>
            </a: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822959" y="2185416"/>
            <a:ext cx="21214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PER THOUSAND TRAJECTORIES</a:t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822959" y="2386584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false alarms in 2019, in folds A and 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(admissibility ceiling: 0.20)</a:t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3328416" y="1417320"/>
            <a:ext cx="2487168" cy="16002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3511296" y="1636776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9 / 10</a:t>
            </a:r>
            <a:endParaRPr/>
          </a:p>
        </p:txBody>
      </p:sp>
      <p:sp>
        <p:nvSpPr>
          <p:cNvPr id="298" name="Google Shape;298;p15"/>
          <p:cNvSpPr txBox="1"/>
          <p:nvPr/>
        </p:nvSpPr>
        <p:spPr>
          <a:xfrm>
            <a:off x="3511296" y="2185416"/>
            <a:ext cx="21214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COVERAGE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3511296" y="2386584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year-folds with at least one alarm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in the season where drift occurred</a:t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6016752" y="1417320"/>
            <a:ext cx="2487168" cy="16002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6199632" y="1636776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0.2 – 1.5</a:t>
            </a:r>
            <a:endParaRPr/>
          </a:p>
        </p:txBody>
      </p:sp>
      <p:sp>
        <p:nvSpPr>
          <p:cNvPr id="302" name="Google Shape;302;p15"/>
          <p:cNvSpPr txBox="1"/>
          <p:nvPr/>
        </p:nvSpPr>
        <p:spPr>
          <a:xfrm>
            <a:off x="6199632" y="2185416"/>
            <a:ext cx="21214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GAMES OF LATENCY</a:t>
            </a:r>
            <a:endParaRPr/>
          </a:p>
        </p:txBody>
      </p:sp>
      <p:sp>
        <p:nvSpPr>
          <p:cNvPr id="303" name="Google Shape;303;p15"/>
          <p:cNvSpPr txBox="1"/>
          <p:nvPr/>
        </p:nvSpPr>
        <p:spPr>
          <a:xfrm>
            <a:off x="6199632" y="2386584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until the first alarm after each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season changeover</a:t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640080" y="3200400"/>
            <a:ext cx="3840480" cy="123444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804671" y="3401568"/>
            <a:ext cx="64008" cy="83210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5"/>
          <p:cNvSpPr txBox="1"/>
          <p:nvPr/>
        </p:nvSpPr>
        <p:spPr>
          <a:xfrm>
            <a:off x="1024127" y="340156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WITHOUT NORMALIZATION THERE IS NO DETECTOR</a:t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1024127" y="3758184"/>
            <a:ext cx="32918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None of the 96 configurations is admissible on the raw signal, and the 21 smoothers tested worsen the FAR.</a:t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4663440" y="3200400"/>
            <a:ext cx="3840480" cy="123444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4828031" y="3401568"/>
            <a:ext cx="64008" cy="83210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5"/>
          <p:cNvSpPr txBox="1"/>
          <p:nvPr/>
        </p:nvSpPr>
        <p:spPr>
          <a:xfrm>
            <a:off x="5047488" y="340156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WITHOUT A HOLDOUT, A DIFFERENT CHOICE</a:t>
            </a:r>
            <a:endParaRPr/>
          </a:p>
        </p:txBody>
      </p:sp>
      <p:sp>
        <p:nvSpPr>
          <p:cNvPr id="311" name="Google Shape;311;p15"/>
          <p:cNvSpPr txBox="1"/>
          <p:nvPr/>
        </p:nvSpPr>
        <p:spPr>
          <a:xfrm>
            <a:off x="5047488" y="3758184"/>
            <a:ext cx="32918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The in-sample winning configuration keeps FAR ≈ 0 but covers only 2–3 of 5 seasons out of sample.</a:t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731520" y="45079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3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All numbers are out-of-sample: calibration uses half of each year's games and the other half is evaluated exactly once.</a:t>
            </a:r>
            <a:endParaRPr/>
          </a:p>
        </p:txBody>
      </p:sp>
      <p:pic>
        <p:nvPicPr>
          <p:cNvPr descr="image.png" id="313" name="Google Shape;3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Conclusions</a:t>
            </a:r>
            <a:endParaRPr/>
          </a:p>
        </p:txBody>
      </p:sp>
      <p:sp>
        <p:nvSpPr>
          <p:cNvPr id="322" name="Google Shape;322;p16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What the study delivers</a:t>
            </a:r>
            <a:endParaRPr/>
          </a:p>
        </p:txBody>
      </p:sp>
      <p:cxnSp>
        <p:nvCxnSpPr>
          <p:cNvPr id="323" name="Google Shape;323;p16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4" name="Google Shape;324;p16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14</a:t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640080" y="1508760"/>
            <a:ext cx="2487168" cy="256032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804671" y="1709928"/>
            <a:ext cx="64008" cy="215798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1024127" y="1709928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MEASURE</a:t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1024127" y="2066543"/>
            <a:ext cx="1938528" cy="1847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Persistent drift after training. The Kalman filter baseline degrades even more, because the robots move away from the constant-velocity model.</a:t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3328416" y="1508760"/>
            <a:ext cx="2487168" cy="256032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3493008" y="1709928"/>
            <a:ext cx="64008" cy="215798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3712464" y="1709928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EXPLAIN</a:t>
            </a:r>
            <a:endParaRPr/>
          </a:p>
        </p:txBody>
      </p:sp>
      <p:sp>
        <p:nvSpPr>
          <p:cNvPr id="332" name="Google Shape;332;p16"/>
          <p:cNvSpPr txBox="1"/>
          <p:nvPr/>
        </p:nvSpPr>
        <p:spPr>
          <a:xfrm>
            <a:off x="3712464" y="2066543"/>
            <a:ext cx="1938528" cy="1847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59–72% of the excess is covariate shift, with tail acceleration as the dominant driver.</a:t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6016752" y="1508760"/>
            <a:ext cx="2487168" cy="256032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6181344" y="1709928"/>
            <a:ext cx="64008" cy="215798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6400800" y="1709928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ACT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6400800" y="2066543"/>
            <a:ext cx="1938528" cy="1847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Weighted replay reduces forgetting; normalized ADWIN provides a measurable trigger for retraining.</a:t>
            </a:r>
            <a:endParaRPr/>
          </a:p>
        </p:txBody>
      </p:sp>
      <p:pic>
        <p:nvPicPr>
          <p:cNvPr descr="image.png" id="337" name="Google Shape;3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Limitations and next steps</a:t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Where the conclusions should be interpreted with care</a:t>
            </a:r>
            <a:endParaRPr/>
          </a:p>
        </p:txBody>
      </p:sp>
      <p:cxnSp>
        <p:nvCxnSpPr>
          <p:cNvPr id="347" name="Google Shape;347;p17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8" name="Google Shape;348;p17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15</a:t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40080" y="1508760"/>
            <a:ext cx="251460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804671" y="170992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1024127" y="170992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LIMITATIONS</a:t>
            </a:r>
            <a:endParaRPr/>
          </a:p>
        </p:txBody>
      </p:sp>
      <p:sp>
        <p:nvSpPr>
          <p:cNvPr id="352" name="Google Shape;352;p17"/>
          <p:cNvSpPr txBox="1"/>
          <p:nvPr/>
        </p:nvSpPr>
        <p:spPr>
          <a:xfrm>
            <a:off x="1024127" y="2066543"/>
            <a:ext cx="196596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2021 mixes the sim-to-real gap with seasonal drift.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Only Division A and six games per season.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ADE is a single-mode metric.</a:t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3310128" y="1508760"/>
            <a:ext cx="251460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3474720" y="170992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3694176" y="170992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OPERATIONAL CAUTION</a:t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3694176" y="2066543"/>
            <a:ext cx="196596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Robust normalization assumes gradual drift.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There is autocorrelation between trajectories.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The residual concept-drift fraction was not isolated per variable.</a:t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5980176" y="1508760"/>
            <a:ext cx="251460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6144768" y="170992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6364224" y="170992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NEXT STEPS</a:t>
            </a:r>
            <a:endParaRPr/>
          </a:p>
        </p:txBody>
      </p:sp>
      <p:sp>
        <p:nvSpPr>
          <p:cNvPr id="360" name="Google Shape;360;p17"/>
          <p:cNvSpPr txBox="1"/>
          <p:nvPr/>
        </p:nvSpPr>
        <p:spPr>
          <a:xfrm>
            <a:off x="6364224" y="2066543"/>
            <a:ext cx="196596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Retrain the encoder.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Scale up weighted replay.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Evaluate multimodal predictors and more seasons.</a:t>
            </a:r>
            <a:endParaRPr/>
          </a:p>
        </p:txBody>
      </p:sp>
      <p:pic>
        <p:nvPicPr>
          <p:cNvPr descr="image.png" id="361" name="Google Shape;3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Essential references</a:t>
            </a:r>
            <a:endParaRPr/>
          </a:p>
        </p:txBody>
      </p:sp>
      <p:sp>
        <p:nvSpPr>
          <p:cNvPr id="370" name="Google Shape;370;p18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Works that structure the model, the diagnosis, and the detection</a:t>
            </a:r>
            <a:endParaRPr/>
          </a:p>
        </p:txBody>
      </p:sp>
      <p:cxnSp>
        <p:nvCxnSpPr>
          <p:cNvPr id="371" name="Google Shape;371;p18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2" name="Google Shape;372;p1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16</a:t>
            </a:r>
            <a:endParaRPr/>
          </a:p>
        </p:txBody>
      </p:sp>
      <p:sp>
        <p:nvSpPr>
          <p:cNvPr id="373" name="Google Shape;373;p18"/>
          <p:cNvSpPr txBox="1"/>
          <p:nvPr/>
        </p:nvSpPr>
        <p:spPr>
          <a:xfrm>
            <a:off x="777240" y="1508760"/>
            <a:ext cx="7635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Steuernagel, L.; Máximo, M. R. O. A. Trajectory prediction for SSL robots using seq2seq neural networks. RoboCup 2022, LNCS 13561, Springer, 2023.</a:t>
            </a:r>
            <a:endParaRPr/>
          </a:p>
        </p:txBody>
      </p:sp>
      <p:cxnSp>
        <p:nvCxnSpPr>
          <p:cNvPr id="374" name="Google Shape;374;p18"/>
          <p:cNvCxnSpPr/>
          <p:nvPr/>
        </p:nvCxnSpPr>
        <p:spPr>
          <a:xfrm>
            <a:off x="777240" y="1965960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5" name="Google Shape;375;p18"/>
          <p:cNvSpPr txBox="1"/>
          <p:nvPr/>
        </p:nvSpPr>
        <p:spPr>
          <a:xfrm>
            <a:off x="777240" y="2167128"/>
            <a:ext cx="7635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Gama, J. et al. A survey on concept drift adaptation. ACM Computing Surveys, 2014.</a:t>
            </a:r>
            <a:endParaRPr/>
          </a:p>
        </p:txBody>
      </p:sp>
      <p:cxnSp>
        <p:nvCxnSpPr>
          <p:cNvPr id="376" name="Google Shape;376;p18"/>
          <p:cNvCxnSpPr/>
          <p:nvPr/>
        </p:nvCxnSpPr>
        <p:spPr>
          <a:xfrm>
            <a:off x="777240" y="2624328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7" name="Google Shape;377;p18"/>
          <p:cNvSpPr txBox="1"/>
          <p:nvPr/>
        </p:nvSpPr>
        <p:spPr>
          <a:xfrm>
            <a:off x="777240" y="2825496"/>
            <a:ext cx="7635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Bifet, A.; Gavaldà, R. Learning from time-changing data with adaptive windowing (ADWIN). SDM, 2007.</a:t>
            </a:r>
            <a:endParaRPr/>
          </a:p>
        </p:txBody>
      </p:sp>
      <p:cxnSp>
        <p:nvCxnSpPr>
          <p:cNvPr id="378" name="Google Shape;378;p18"/>
          <p:cNvCxnSpPr/>
          <p:nvPr/>
        </p:nvCxnSpPr>
        <p:spPr>
          <a:xfrm>
            <a:off x="777240" y="3282696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9" name="Google Shape;379;p18"/>
          <p:cNvSpPr txBox="1"/>
          <p:nvPr/>
        </p:nvSpPr>
        <p:spPr>
          <a:xfrm>
            <a:off x="777240" y="3483864"/>
            <a:ext cx="7635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Kanamori, T.; Hido, S.; Sugiyama, M. A least-squares approach to direct importance estimation (LSIF). JMLR, 2009.</a:t>
            </a:r>
            <a:endParaRPr/>
          </a:p>
        </p:txBody>
      </p:sp>
      <p:cxnSp>
        <p:nvCxnSpPr>
          <p:cNvPr id="380" name="Google Shape;380;p18"/>
          <p:cNvCxnSpPr/>
          <p:nvPr/>
        </p:nvCxnSpPr>
        <p:spPr>
          <a:xfrm>
            <a:off x="777240" y="3941064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81" name="Google Shape;3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9" name="Google Shape;3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145" y="1143000"/>
            <a:ext cx="119874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5725" y="1143000"/>
            <a:ext cx="147255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3829" y="1143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9"/>
          <p:cNvSpPr txBox="1"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914400" y="3108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Questions and discussion</a:t>
            </a:r>
            <a:endParaRPr/>
          </a:p>
        </p:txBody>
      </p:sp>
      <p:sp>
        <p:nvSpPr>
          <p:cNvPr id="394" name="Google Shape;394;p19"/>
          <p:cNvSpPr/>
          <p:nvPr/>
        </p:nvSpPr>
        <p:spPr>
          <a:xfrm>
            <a:off x="3977639" y="3886200"/>
            <a:ext cx="1188720" cy="50292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