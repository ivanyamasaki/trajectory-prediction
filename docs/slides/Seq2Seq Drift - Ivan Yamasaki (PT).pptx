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5143500" cx="9144000"/>
  <p:notesSz cx="6858000" cy="9144000"/>
  <p:embeddedFontLst>
    <p:embeddedFont>
      <p:font typeface="Google Sans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font" Target="fonts/GoogleSans-regular.fntdata"/><Relationship Id="rId24" Type="http://schemas.openxmlformats.org/officeDocument/2006/relationships/font" Target="fonts/GoogleSans-bold.fntdata"/><Relationship Id="rId25" Type="http://schemas.openxmlformats.org/officeDocument/2006/relationships/font" Target="fonts/GoogleSans-italic.fntdata"/><Relationship Id="rId26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" name="Google Shape;9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9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3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4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6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17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hyperlink" Target="https://github.com/IvanYamasaki/trajectory-predic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2" name="Google Shape;1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17520" y="1143000"/>
            <a:ext cx="1198741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" name="Google Shape;13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79075" y="1143000"/>
            <a:ext cx="1472550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" name="Google Shape;14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6479" y="11430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/>
          <p:nvPr/>
        </p:nvSpPr>
        <p:spPr>
          <a:xfrm>
            <a:off x="960120" y="2148840"/>
            <a:ext cx="72237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Data Drift em um modelo Seq2Seq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para predição de trajetórias na RoboCup SSL</a:t>
            </a:r>
            <a:endParaRPr/>
          </a:p>
        </p:txBody>
      </p:sp>
      <p:sp>
        <p:nvSpPr>
          <p:cNvPr id="16" name="Google Shape;16;p3"/>
          <p:cNvSpPr txBox="1"/>
          <p:nvPr/>
        </p:nvSpPr>
        <p:spPr>
          <a:xfrm>
            <a:off x="1325880" y="3154680"/>
            <a:ext cx="64923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Ivan G. Yamasaki · Orientadores: Prof. Dr. Marcos R. O. A. Máximo / Prof. </a:t>
            </a: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Dr, </a:t>
            </a: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Paulo </a:t>
            </a: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M. </a:t>
            </a: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Tasinaffo </a:t>
            </a:r>
            <a:endParaRPr/>
          </a:p>
        </p:txBody>
      </p:sp>
      <p:sp>
        <p:nvSpPr>
          <p:cNvPr id="17" name="Google Shape;17;p3"/>
          <p:cNvSpPr txBox="1"/>
          <p:nvPr/>
        </p:nvSpPr>
        <p:spPr>
          <a:xfrm>
            <a:off x="1325880" y="3511296"/>
            <a:ext cx="6492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Instituto Tecnológico de Aeronáutica · Julho de 2026</a:t>
            </a:r>
            <a:endParaRPr/>
          </a:p>
        </p:txBody>
      </p:sp>
      <p:sp>
        <p:nvSpPr>
          <p:cNvPr id="18" name="Google Shape;18;p3"/>
          <p:cNvSpPr/>
          <p:nvPr/>
        </p:nvSpPr>
        <p:spPr>
          <a:xfrm>
            <a:off x="3977639" y="4069080"/>
            <a:ext cx="1188720" cy="50292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Introdução e motivação</a:t>
            </a:r>
            <a:endParaRPr/>
          </a:p>
        </p:txBody>
      </p:sp>
      <p:sp>
        <p:nvSpPr>
          <p:cNvPr id="24" name="Google Shape;24;p4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Predição mais precisa hoje; </a:t>
            </a:r>
            <a:r>
              <a:rPr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estratégias </a:t>
            </a: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da liga </a:t>
            </a:r>
            <a:r>
              <a:rPr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melhores </a:t>
            </a: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amanhã</a:t>
            </a:r>
            <a:endParaRPr/>
          </a:p>
        </p:txBody>
      </p:sp>
      <p:cxnSp>
        <p:nvCxnSpPr>
          <p:cNvPr id="25" name="Google Shape;25;p4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" name="Google Shape;27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" name="Google Shape;2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4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02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640075" y="1397521"/>
            <a:ext cx="3291600" cy="8808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804666" y="1464734"/>
            <a:ext cx="63900" cy="732000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1154746" y="1564232"/>
            <a:ext cx="257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CONTEXTO</a:t>
            </a:r>
            <a:endParaRPr/>
          </a:p>
        </p:txBody>
      </p:sp>
      <p:sp>
        <p:nvSpPr>
          <p:cNvPr id="33" name="Google Shape;33;p4"/>
          <p:cNvSpPr txBox="1"/>
          <p:nvPr/>
        </p:nvSpPr>
        <p:spPr>
          <a:xfrm>
            <a:off x="1010900" y="1808447"/>
            <a:ext cx="27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 predição de trajetórias apoia decisões em tempo real na Small Size League.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640075" y="2421446"/>
            <a:ext cx="3291600" cy="8808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04666" y="2488659"/>
            <a:ext cx="63900" cy="732000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1154746" y="2562310"/>
            <a:ext cx="257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LACUNA</a:t>
            </a:r>
            <a:endParaRPr/>
          </a:p>
        </p:txBody>
      </p:sp>
      <p:sp>
        <p:nvSpPr>
          <p:cNvPr id="37" name="Google Shape;37;p4"/>
          <p:cNvSpPr txBox="1"/>
          <p:nvPr/>
        </p:nvSpPr>
        <p:spPr>
          <a:xfrm>
            <a:off x="1010900" y="2806537"/>
            <a:ext cx="2920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Um modelo treinado em uma temporada pode degradar silenciosamente em ligas futuras.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63" y="3441971"/>
            <a:ext cx="3291600" cy="8808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804654" y="3509184"/>
            <a:ext cx="63900" cy="732000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 txBox="1"/>
          <p:nvPr/>
        </p:nvSpPr>
        <p:spPr>
          <a:xfrm>
            <a:off x="1154733" y="3600066"/>
            <a:ext cx="257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000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OBJETIVO</a:t>
            </a:r>
            <a:endParaRPr/>
          </a:p>
        </p:txBody>
      </p:sp>
      <p:sp>
        <p:nvSpPr>
          <p:cNvPr id="41" name="Google Shape;41;p4"/>
          <p:cNvSpPr txBox="1"/>
          <p:nvPr/>
        </p:nvSpPr>
        <p:spPr>
          <a:xfrm>
            <a:off x="1010887" y="3844293"/>
            <a:ext cx="2920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Medir o drift, explicar sua origem e definir como adaptar e quando retreinar.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</p:txBody>
      </p:sp>
      <p:pic>
        <p:nvPicPr>
          <p:cNvPr id="42" name="Google Shape;42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572001" y="1399221"/>
            <a:ext cx="3451638" cy="292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Perguntas do estudo</a:t>
            </a:r>
            <a:endParaRPr/>
          </a:p>
        </p:txBody>
      </p:sp>
      <p:sp>
        <p:nvSpPr>
          <p:cNvPr id="49" name="Google Shape;49;p5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Uma avaliação temporal do preditor seq2seq </a:t>
            </a:r>
            <a:endParaRPr/>
          </a:p>
        </p:txBody>
      </p:sp>
      <p:cxnSp>
        <p:nvCxnSpPr>
          <p:cNvPr id="50" name="Google Shape;50;p5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51" name="Google Shape;51;p5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03</a:t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685800" y="1691640"/>
            <a:ext cx="242316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850392" y="1892808"/>
            <a:ext cx="64008" cy="165506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"/>
          <p:cNvSpPr txBox="1"/>
          <p:nvPr/>
        </p:nvSpPr>
        <p:spPr>
          <a:xfrm>
            <a:off x="1069848" y="1892808"/>
            <a:ext cx="187451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Quanto?</a:t>
            </a:r>
            <a:endParaRPr/>
          </a:p>
        </p:txBody>
      </p:sp>
      <p:sp>
        <p:nvSpPr>
          <p:cNvPr id="55" name="Google Shape;55;p5"/>
          <p:cNvSpPr txBox="1"/>
          <p:nvPr/>
        </p:nvSpPr>
        <p:spPr>
          <a:xfrm>
            <a:off x="1069848" y="2249424"/>
            <a:ext cx="1874400" cy="134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Como a ADE muda entre 2019 e 2025?</a:t>
            </a:r>
            <a:endParaRPr/>
          </a:p>
        </p:txBody>
      </p:sp>
      <p:sp>
        <p:nvSpPr>
          <p:cNvPr id="56" name="Google Shape;56;p5"/>
          <p:cNvSpPr/>
          <p:nvPr/>
        </p:nvSpPr>
        <p:spPr>
          <a:xfrm>
            <a:off x="3383280" y="1691640"/>
            <a:ext cx="242316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3547872" y="1892808"/>
            <a:ext cx="64008" cy="165506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"/>
          <p:cNvSpPr txBox="1"/>
          <p:nvPr/>
        </p:nvSpPr>
        <p:spPr>
          <a:xfrm>
            <a:off x="3767328" y="1892808"/>
            <a:ext cx="187451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Por quê?</a:t>
            </a:r>
            <a:endParaRPr/>
          </a:p>
        </p:txBody>
      </p:sp>
      <p:sp>
        <p:nvSpPr>
          <p:cNvPr id="59" name="Google Shape;59;p5"/>
          <p:cNvSpPr txBox="1"/>
          <p:nvPr/>
        </p:nvSpPr>
        <p:spPr>
          <a:xfrm>
            <a:off x="3767328" y="2249424"/>
            <a:ext cx="1874519" cy="1344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Que parte vem de covariate shift e quais variáveis o explicam?</a:t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080760" y="1691640"/>
            <a:ext cx="242316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6245352" y="1892808"/>
            <a:ext cx="64008" cy="165506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5"/>
          <p:cNvSpPr txBox="1"/>
          <p:nvPr/>
        </p:nvSpPr>
        <p:spPr>
          <a:xfrm>
            <a:off x="6464808" y="1892808"/>
            <a:ext cx="1874519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 que fazer?</a:t>
            </a:r>
            <a:endParaRPr/>
          </a:p>
        </p:txBody>
      </p:sp>
      <p:sp>
        <p:nvSpPr>
          <p:cNvPr id="63" name="Google Shape;63;p5"/>
          <p:cNvSpPr txBox="1"/>
          <p:nvPr/>
        </p:nvSpPr>
        <p:spPr>
          <a:xfrm>
            <a:off x="6464808" y="2249424"/>
            <a:ext cx="1874519" cy="1344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Como adaptar sem esquecer e como sinalizar o momento de retreinar?</a:t>
            </a:r>
            <a:endParaRPr/>
          </a:p>
        </p:txBody>
      </p:sp>
      <p:pic>
        <p:nvPicPr>
          <p:cNvPr descr="image.png" id="64" name="Google Shape;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5" name="Google Shape;65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6" name="Google Shape;66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6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Dados e protocolo</a:t>
            </a:r>
            <a:endParaRPr/>
          </a:p>
        </p:txBody>
      </p:sp>
      <p:sp>
        <p:nvSpPr>
          <p:cNvPr id="73" name="Google Shape;73;p6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Logs oficiais dos mundiais da RoboCup SSL</a:t>
            </a:r>
            <a:endParaRPr/>
          </a:p>
        </p:txBody>
      </p:sp>
      <p:cxnSp>
        <p:nvCxnSpPr>
          <p:cNvPr id="74" name="Google Shape;74;p6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5" name="Google Shape;75;p6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04</a:t>
            </a:r>
            <a:endParaRPr/>
          </a:p>
        </p:txBody>
      </p:sp>
      <p:sp>
        <p:nvSpPr>
          <p:cNvPr id="76" name="Google Shape;76;p6"/>
          <p:cNvSpPr/>
          <p:nvPr/>
        </p:nvSpPr>
        <p:spPr>
          <a:xfrm>
            <a:off x="594360" y="1691640"/>
            <a:ext cx="2423160" cy="21488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7" name="Google Shape;77;p6"/>
          <p:cNvCxnSpPr/>
          <p:nvPr/>
        </p:nvCxnSpPr>
        <p:spPr>
          <a:xfrm>
            <a:off x="594360" y="1691640"/>
            <a:ext cx="2423160" cy="0"/>
          </a:xfrm>
          <a:prstGeom prst="straightConnector1">
            <a:avLst/>
          </a:prstGeom>
          <a:noFill/>
          <a:ln cap="flat" cmpd="sng" w="30475">
            <a:solidFill>
              <a:srgbClr val="8D0D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78" name="Google Shape;78;p6"/>
          <p:cNvSpPr txBox="1"/>
          <p:nvPr/>
        </p:nvSpPr>
        <p:spPr>
          <a:xfrm>
            <a:off x="822960" y="196596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1 · Base</a:t>
            </a:r>
            <a:endParaRPr/>
          </a:p>
        </p:txBody>
      </p:sp>
      <p:sp>
        <p:nvSpPr>
          <p:cNvPr id="79" name="Google Shape;79;p6"/>
          <p:cNvSpPr txBox="1"/>
          <p:nvPr/>
        </p:nvSpPr>
        <p:spPr>
          <a:xfrm>
            <a:off x="822960" y="2487168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Logs oficiais 2019–2025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6 jogos da Divisão A por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mundial · 36 no total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2020 não teve competição</a:t>
            </a:r>
            <a:endParaRPr/>
          </a:p>
        </p:txBody>
      </p:sp>
      <p:sp>
        <p:nvSpPr>
          <p:cNvPr id="80" name="Google Shape;80;p6"/>
          <p:cNvSpPr/>
          <p:nvPr/>
        </p:nvSpPr>
        <p:spPr>
          <a:xfrm>
            <a:off x="3383279" y="1691640"/>
            <a:ext cx="2423160" cy="21488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" name="Google Shape;81;p6"/>
          <p:cNvCxnSpPr/>
          <p:nvPr/>
        </p:nvCxnSpPr>
        <p:spPr>
          <a:xfrm>
            <a:off x="3383279" y="1691640"/>
            <a:ext cx="2423161" cy="0"/>
          </a:xfrm>
          <a:prstGeom prst="straightConnector1">
            <a:avLst/>
          </a:prstGeom>
          <a:noFill/>
          <a:ln cap="flat" cmpd="sng" w="30475">
            <a:solidFill>
              <a:srgbClr val="8D0D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2" name="Google Shape;82;p6"/>
          <p:cNvSpPr txBox="1"/>
          <p:nvPr/>
        </p:nvSpPr>
        <p:spPr>
          <a:xfrm>
            <a:off x="3611879" y="196596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2 · Stream</a:t>
            </a:r>
            <a:endParaRPr/>
          </a:p>
        </p:txBody>
      </p:sp>
      <p:sp>
        <p:nvSpPr>
          <p:cNvPr id="83" name="Google Shape;83;p6"/>
          <p:cNvSpPr txBox="1"/>
          <p:nvPr/>
        </p:nvSpPr>
        <p:spPr>
          <a:xfrm>
            <a:off x="3611879" y="2487168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8 mil janelas/jogo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288 mil trajetórias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ordem temporal preservada</a:t>
            </a:r>
            <a:endParaRPr/>
          </a:p>
        </p:txBody>
      </p:sp>
      <p:sp>
        <p:nvSpPr>
          <p:cNvPr id="84" name="Google Shape;84;p6"/>
          <p:cNvSpPr/>
          <p:nvPr/>
        </p:nvSpPr>
        <p:spPr>
          <a:xfrm>
            <a:off x="6172200" y="1691640"/>
            <a:ext cx="2423160" cy="2148840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" name="Google Shape;85;p6"/>
          <p:cNvCxnSpPr/>
          <p:nvPr/>
        </p:nvCxnSpPr>
        <p:spPr>
          <a:xfrm>
            <a:off x="6172200" y="1691640"/>
            <a:ext cx="2423160" cy="0"/>
          </a:xfrm>
          <a:prstGeom prst="straightConnector1">
            <a:avLst/>
          </a:prstGeom>
          <a:noFill/>
          <a:ln cap="flat" cmpd="sng" w="30475">
            <a:solidFill>
              <a:srgbClr val="8D0DE3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86" name="Google Shape;86;p6"/>
          <p:cNvSpPr txBox="1"/>
          <p:nvPr/>
        </p:nvSpPr>
        <p:spPr>
          <a:xfrm>
            <a:off x="6400800" y="196596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3 · Avaliação</a:t>
            </a:r>
            <a:endParaRPr/>
          </a:p>
        </p:txBody>
      </p:sp>
      <p:sp>
        <p:nvSpPr>
          <p:cNvPr id="87" name="Google Shape;87;p6"/>
          <p:cNvSpPr txBox="1"/>
          <p:nvPr/>
        </p:nvSpPr>
        <p:spPr>
          <a:xfrm>
            <a:off x="6400800" y="2487168"/>
            <a:ext cx="192024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em milímetros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horizontes 30→15 e 60→30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2019 = referência</a:t>
            </a:r>
            <a:endParaRPr/>
          </a:p>
        </p:txBody>
      </p:sp>
      <p:sp>
        <p:nvSpPr>
          <p:cNvPr id="88" name="Google Shape;88;p6"/>
          <p:cNvSpPr txBox="1"/>
          <p:nvPr/>
        </p:nvSpPr>
        <p:spPr>
          <a:xfrm>
            <a:off x="685800" y="4096512"/>
            <a:ext cx="7863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O baseline usa os seis jogos de 2019: com apenas um jogo, a ADE varia de 4,53 a 6,20 mm.</a:t>
            </a:r>
            <a:endParaRPr/>
          </a:p>
        </p:txBody>
      </p:sp>
      <p:pic>
        <p:nvPicPr>
          <p:cNvPr descr="image.png" id="89" name="Google Shape;8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0" name="Google Shape;9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1" name="Google Shape;91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7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Modelo e baseline</a:t>
            </a:r>
            <a:endParaRPr/>
          </a:p>
        </p:txBody>
      </p:sp>
      <p:sp>
        <p:nvSpPr>
          <p:cNvPr id="98" name="Google Shape;98;p7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Comparação limpa entre um modelo aprendido e um comparador cinemático fixo</a:t>
            </a:r>
            <a:endParaRPr/>
          </a:p>
        </p:txBody>
      </p:sp>
      <p:cxnSp>
        <p:nvCxnSpPr>
          <p:cNvPr id="99" name="Google Shape;99;p7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00" name="Google Shape;100;p7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05</a:t>
            </a:r>
            <a:endParaRPr/>
          </a:p>
        </p:txBody>
      </p:sp>
      <p:sp>
        <p:nvSpPr>
          <p:cNvPr id="101" name="Google Shape;101;p7"/>
          <p:cNvSpPr/>
          <p:nvPr/>
        </p:nvSpPr>
        <p:spPr>
          <a:xfrm>
            <a:off x="640080" y="1737360"/>
            <a:ext cx="2331720" cy="1874519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841247" y="201168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Entrada</a:t>
            </a:r>
            <a:endParaRPr/>
          </a:p>
        </p:txBody>
      </p:sp>
      <p:sp>
        <p:nvSpPr>
          <p:cNvPr id="103" name="Google Shape;103;p7"/>
          <p:cNvSpPr txBox="1"/>
          <p:nvPr/>
        </p:nvSpPr>
        <p:spPr>
          <a:xfrm>
            <a:off x="841247" y="2487168"/>
            <a:ext cx="1920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[x, y, vx, vy, sin ψ, cos ψ]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ψ = orientação do robô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30 / 60 passos observados</a:t>
            </a:r>
            <a:endParaRPr/>
          </a:p>
        </p:txBody>
      </p:sp>
      <p:sp>
        <p:nvSpPr>
          <p:cNvPr id="104" name="Google Shape;104;p7"/>
          <p:cNvSpPr txBox="1"/>
          <p:nvPr/>
        </p:nvSpPr>
        <p:spPr>
          <a:xfrm>
            <a:off x="2999232" y="253288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105" name="Google Shape;105;p7"/>
          <p:cNvSpPr/>
          <p:nvPr/>
        </p:nvSpPr>
        <p:spPr>
          <a:xfrm>
            <a:off x="3383280" y="1737360"/>
            <a:ext cx="2331720" cy="1874519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7"/>
          <p:cNvSpPr txBox="1"/>
          <p:nvPr/>
        </p:nvSpPr>
        <p:spPr>
          <a:xfrm>
            <a:off x="3584448" y="201168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Seq2Seq</a:t>
            </a:r>
            <a:endParaRPr/>
          </a:p>
        </p:txBody>
      </p:sp>
      <p:sp>
        <p:nvSpPr>
          <p:cNvPr id="107" name="Google Shape;107;p7"/>
          <p:cNvSpPr txBox="1"/>
          <p:nvPr/>
        </p:nvSpPr>
        <p:spPr>
          <a:xfrm>
            <a:off x="3584448" y="2487168"/>
            <a:ext cx="19202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Encoder LSTM (128)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atenção aditiva (Bahdanau et al.)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decoder auto-regressivo</a:t>
            </a:r>
            <a:endParaRPr/>
          </a:p>
        </p:txBody>
      </p:sp>
      <p:sp>
        <p:nvSpPr>
          <p:cNvPr id="108" name="Google Shape;108;p7"/>
          <p:cNvSpPr txBox="1"/>
          <p:nvPr/>
        </p:nvSpPr>
        <p:spPr>
          <a:xfrm>
            <a:off x="5742432" y="2532888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6126480" y="1737360"/>
            <a:ext cx="2331720" cy="1874519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7"/>
          <p:cNvSpPr txBox="1"/>
          <p:nvPr/>
        </p:nvSpPr>
        <p:spPr>
          <a:xfrm>
            <a:off x="6327648" y="2011680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Saída</a:t>
            </a:r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6327648" y="2487168"/>
            <a:ext cx="1920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15 / 30 posições futuras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como métrica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baseline: filtro de Kalman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de velocidade constante</a:t>
            </a:r>
            <a:endParaRPr/>
          </a:p>
        </p:txBody>
      </p:sp>
      <p:sp>
        <p:nvSpPr>
          <p:cNvPr id="112" name="Google Shape;112;p7"/>
          <p:cNvSpPr txBox="1"/>
          <p:nvPr/>
        </p:nvSpPr>
        <p:spPr>
          <a:xfrm>
            <a:off x="1234440" y="4069080"/>
            <a:ext cx="67665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O modelo prevê velocidades incrementais; por isso é diretamente sensível a mudanças cinemáticas.</a:t>
            </a:r>
            <a:endParaRPr/>
          </a:p>
        </p:txBody>
      </p:sp>
      <p:pic>
        <p:nvPicPr>
          <p:cNvPr descr="image.png" id="113" name="Google Shape;113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8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Resultado 1 — o drift é real</a:t>
            </a:r>
            <a:endParaRPr/>
          </a:p>
        </p:txBody>
      </p:sp>
      <p:sp>
        <p:nvSpPr>
          <p:cNvPr id="122" name="Google Shape;122;p8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 perda de precisão cresce ao se afastar da temporada de treino</a:t>
            </a:r>
            <a:endParaRPr/>
          </a:p>
        </p:txBody>
      </p:sp>
      <p:cxnSp>
        <p:nvCxnSpPr>
          <p:cNvPr id="123" name="Google Shape;123;p8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24" name="Google Shape;124;p8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06</a:t>
            </a:r>
            <a:endParaRPr/>
          </a:p>
        </p:txBody>
      </p:sp>
      <p:pic>
        <p:nvPicPr>
          <p:cNvPr descr="_fig_degradacao_pt.png" id="125" name="Google Shape;125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481328"/>
            <a:ext cx="77724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8"/>
          <p:cNvSpPr txBox="1"/>
          <p:nvPr/>
        </p:nvSpPr>
        <p:spPr>
          <a:xfrm>
            <a:off x="777240" y="4279392"/>
            <a:ext cx="7635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São dois efeitos separados: o salto de 2021 (torneio em simulação) e a tendência gradual de 2022 a 2025, ambos medidos contra 2019.</a:t>
            </a:r>
            <a:endParaRPr/>
          </a:p>
        </p:txBody>
      </p:sp>
      <p:pic>
        <p:nvPicPr>
          <p:cNvPr descr="image.png" id="127" name="Google Shape;127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9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Resultado 2 — a aceleração lidera a mudança</a:t>
            </a:r>
            <a:endParaRPr/>
          </a:p>
        </p:txBody>
      </p:sp>
      <p:sp>
        <p:nvSpPr>
          <p:cNvPr id="136" name="Google Shape;136;p9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 cauda cinemática explica onde o novo regime entra</a:t>
            </a:r>
            <a:endParaRPr/>
          </a:p>
        </p:txBody>
      </p:sp>
      <p:cxnSp>
        <p:nvCxnSpPr>
          <p:cNvPr id="137" name="Google Shape;137;p9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38" name="Google Shape;138;p9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07</a:t>
            </a:r>
            <a:endParaRPr/>
          </a:p>
        </p:txBody>
      </p:sp>
      <p:pic>
        <p:nvPicPr>
          <p:cNvPr descr="_fig_drift_cinematico_pt.png" id="139" name="Google Shape;13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368" y="1481328"/>
            <a:ext cx="7863840" cy="2542032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9"/>
          <p:cNvSpPr txBox="1"/>
          <p:nvPr/>
        </p:nvSpPr>
        <p:spPr>
          <a:xfrm>
            <a:off x="685800" y="4270248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KS e Wasserstein se afastam da base 2019; accel_p99 se associa ao aumento da ADE por jogo.</a:t>
            </a:r>
            <a:endParaRPr/>
          </a:p>
        </p:txBody>
      </p:sp>
      <p:pic>
        <p:nvPicPr>
          <p:cNvPr descr="image.png" id="141" name="Google Shape;141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2" name="Google Shape;142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3" name="Google Shape;143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0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Resultado 3 — predominância de covariate shift</a:t>
            </a:r>
            <a:endParaRPr/>
          </a:p>
        </p:txBody>
      </p:sp>
      <p:sp>
        <p:nvSpPr>
          <p:cNvPr id="150" name="Google Shape;150;p10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Reponderar exemplos de 2019 com LSIF recupera a maior parte do excesso de erro</a:t>
            </a:r>
            <a:endParaRPr/>
          </a:p>
        </p:txBody>
      </p:sp>
      <p:cxnSp>
        <p:nvCxnSpPr>
          <p:cNvPr id="151" name="Google Shape;151;p10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2" name="Google Shape;152;p10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08</a:t>
            </a:r>
            <a:endParaRPr/>
          </a:p>
        </p:txBody>
      </p:sp>
      <p:pic>
        <p:nvPicPr>
          <p:cNvPr descr="_fig_iw_pt.png" id="153" name="Google Shape;15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1560" y="1554480"/>
            <a:ext cx="7040880" cy="278892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0"/>
          <p:cNvSpPr txBox="1"/>
          <p:nvPr/>
        </p:nvSpPr>
        <p:spPr>
          <a:xfrm>
            <a:off x="731520" y="4434840"/>
            <a:ext cx="7680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3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LSIF atribui 59–72% do excesso a covariate shift; classificador independente confirma mudança em todas as temporadas.</a:t>
            </a:r>
            <a:endParaRPr/>
          </a:p>
        </p:txBody>
      </p:sp>
      <p:pic>
        <p:nvPicPr>
          <p:cNvPr descr="image.png" id="155" name="Google Shape;1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7" name="Google Shape;15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1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Adaptação ao drift</a:t>
            </a:r>
            <a:endParaRPr/>
          </a:p>
        </p:txBody>
      </p:sp>
      <p:sp>
        <p:nvSpPr>
          <p:cNvPr id="164" name="Google Shape;164;p11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 objetivo é recuperar o regime novo sem perder desempenho no regime antigo</a:t>
            </a:r>
            <a:endParaRPr/>
          </a:p>
        </p:txBody>
      </p:sp>
      <p:cxnSp>
        <p:nvCxnSpPr>
          <p:cNvPr id="165" name="Google Shape;165;p11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66" name="Google Shape;166;p11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09</a:t>
            </a:r>
            <a:endParaRPr/>
          </a:p>
        </p:txBody>
      </p:sp>
      <p:sp>
        <p:nvSpPr>
          <p:cNvPr id="167" name="Google Shape;167;p11"/>
          <p:cNvSpPr/>
          <p:nvPr/>
        </p:nvSpPr>
        <p:spPr>
          <a:xfrm>
            <a:off x="685800" y="1554480"/>
            <a:ext cx="246888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1"/>
          <p:cNvSpPr/>
          <p:nvPr/>
        </p:nvSpPr>
        <p:spPr>
          <a:xfrm>
            <a:off x="850392" y="175564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1"/>
          <p:cNvSpPr txBox="1"/>
          <p:nvPr/>
        </p:nvSpPr>
        <p:spPr>
          <a:xfrm>
            <a:off x="1069848" y="17556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PROTOCOLO COMUM</a:t>
            </a:r>
            <a:endParaRPr/>
          </a:p>
        </p:txBody>
      </p:sp>
      <p:sp>
        <p:nvSpPr>
          <p:cNvPr id="170" name="Google Shape;170;p11"/>
          <p:cNvSpPr txBox="1"/>
          <p:nvPr/>
        </p:nvSpPr>
        <p:spPr>
          <a:xfrm>
            <a:off x="1069848" y="2112264"/>
            <a:ext cx="192024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Regime antigo: 2019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Dados novos: 2022–2025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500 trajetórias por jogo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2021 excluído (torneio em simulação)</a:t>
            </a:r>
            <a:endParaRPr/>
          </a:p>
        </p:txBody>
      </p:sp>
      <p:sp>
        <p:nvSpPr>
          <p:cNvPr id="171" name="Google Shape;171;p11"/>
          <p:cNvSpPr/>
          <p:nvPr/>
        </p:nvSpPr>
        <p:spPr>
          <a:xfrm>
            <a:off x="3337560" y="1554480"/>
            <a:ext cx="246888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1"/>
          <p:cNvSpPr/>
          <p:nvPr/>
        </p:nvSpPr>
        <p:spPr>
          <a:xfrm>
            <a:off x="3502152" y="175564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1"/>
          <p:cNvSpPr txBox="1"/>
          <p:nvPr/>
        </p:nvSpPr>
        <p:spPr>
          <a:xfrm>
            <a:off x="3721608" y="17556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ATUALIZAÇÃO LEVE</a:t>
            </a:r>
            <a:endParaRPr/>
          </a:p>
        </p:txBody>
      </p:sp>
      <p:sp>
        <p:nvSpPr>
          <p:cNvPr id="174" name="Google Shape;174;p11"/>
          <p:cNvSpPr txBox="1"/>
          <p:nvPr/>
        </p:nvSpPr>
        <p:spPr>
          <a:xfrm>
            <a:off x="3721608" y="2112264"/>
            <a:ext cx="192024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Encoder congelado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 camadas do decoder treináveis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taxa 10⁻⁵ · 5 épocas</a:t>
            </a:r>
            <a:endParaRPr/>
          </a:p>
        </p:txBody>
      </p:sp>
      <p:sp>
        <p:nvSpPr>
          <p:cNvPr id="175" name="Google Shape;175;p11"/>
          <p:cNvSpPr/>
          <p:nvPr/>
        </p:nvSpPr>
        <p:spPr>
          <a:xfrm>
            <a:off x="5989320" y="1554480"/>
            <a:ext cx="246888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1"/>
          <p:cNvSpPr/>
          <p:nvPr/>
        </p:nvSpPr>
        <p:spPr>
          <a:xfrm>
            <a:off x="6153912" y="175564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6373368" y="1755648"/>
            <a:ext cx="1920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CRITÉRIO</a:t>
            </a:r>
            <a:endParaRPr/>
          </a:p>
        </p:txBody>
      </p:sp>
      <p:sp>
        <p:nvSpPr>
          <p:cNvPr id="178" name="Google Shape;178;p11"/>
          <p:cNvSpPr txBox="1"/>
          <p:nvPr/>
        </p:nvSpPr>
        <p:spPr>
          <a:xfrm>
            <a:off x="6373368" y="2112264"/>
            <a:ext cx="192024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cat_ratio = fração das trajetórias antigas que pioram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Menor é melhor: mede esquecimento catastrófico</a:t>
            </a:r>
            <a:endParaRPr/>
          </a:p>
        </p:txBody>
      </p:sp>
      <p:pic>
        <p:nvPicPr>
          <p:cNvPr descr="image.png" id="179" name="Google Shape;17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2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Resultado 4 — replay ponderado é a melhor resposta</a:t>
            </a:r>
            <a:endParaRPr/>
          </a:p>
        </p:txBody>
      </p:sp>
      <p:sp>
        <p:nvSpPr>
          <p:cNvPr id="188" name="Google Shape;188;p12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Restringir a adaptação ao recorte mais extremo da aceleração piora o esquecimento</a:t>
            </a:r>
            <a:endParaRPr/>
          </a:p>
        </p:txBody>
      </p:sp>
      <p:cxnSp>
        <p:nvCxnSpPr>
          <p:cNvPr id="189" name="Google Shape;189;p12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90" name="Google Shape;190;p12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10</a:t>
            </a:r>
            <a:endParaRPr/>
          </a:p>
        </p:txBody>
      </p:sp>
      <p:pic>
        <p:nvPicPr>
          <p:cNvPr descr="_fig_finetune_pt.png" id="191" name="Google Shape;191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360" y="1481328"/>
            <a:ext cx="7955279" cy="242316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2"/>
          <p:cNvSpPr txBox="1"/>
          <p:nvPr/>
        </p:nvSpPr>
        <p:spPr>
          <a:xfrm>
            <a:off x="685800" y="4224528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4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Fine-tuning leve reduz cat_ratio de 0,82 para ~0,46. Replay ponderado por importance weighting atinge o menor valor (0,417); EWC é inerte.</a:t>
            </a:r>
            <a:endParaRPr/>
          </a:p>
        </p:txBody>
      </p:sp>
      <p:pic>
        <p:nvPicPr>
          <p:cNvPr descr="image.png" id="193" name="Google Shape;19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4" name="Google Shape;194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5" name="Google Shape;195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Detecção online</a:t>
            </a:r>
            <a:endParaRPr/>
          </a:p>
        </p:txBody>
      </p:sp>
      <p:sp>
        <p:nvSpPr>
          <p:cNvPr id="202" name="Google Shape;202;p13"/>
          <p:cNvSpPr txBox="1"/>
          <p:nvPr/>
        </p:nvSpPr>
        <p:spPr>
          <a:xfrm>
            <a:off x="502920" y="850392"/>
            <a:ext cx="8046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Do diagnóstico estatístico do ADWIN / KSWIN à decisão operacional de retreinar</a:t>
            </a:r>
            <a:endParaRPr/>
          </a:p>
        </p:txBody>
      </p:sp>
      <p:cxnSp>
        <p:nvCxnSpPr>
          <p:cNvPr id="203" name="Google Shape;203;p13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04" name="Google Shape;204;p13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11</a:t>
            </a:r>
            <a:endParaRPr/>
          </a:p>
        </p:txBody>
      </p:sp>
      <p:sp>
        <p:nvSpPr>
          <p:cNvPr id="205" name="Google Shape;205;p13"/>
          <p:cNvSpPr/>
          <p:nvPr/>
        </p:nvSpPr>
        <p:spPr>
          <a:xfrm>
            <a:off x="594360" y="1737360"/>
            <a:ext cx="246888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822960" y="199339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01  Sinal</a:t>
            </a:r>
            <a:endParaRPr/>
          </a:p>
        </p:txBody>
      </p:sp>
      <p:sp>
        <p:nvSpPr>
          <p:cNvPr id="207" name="Google Shape;207;p13"/>
          <p:cNvSpPr txBox="1"/>
          <p:nvPr/>
        </p:nvSpPr>
        <p:spPr>
          <a:xfrm>
            <a:off x="822960" y="2523744"/>
            <a:ext cx="193852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por trajetória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normalizada localmente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mediana + MAD (w=200)</a:t>
            </a:r>
            <a:endParaRPr/>
          </a:p>
        </p:txBody>
      </p:sp>
      <p:sp>
        <p:nvSpPr>
          <p:cNvPr id="208" name="Google Shape;208;p13"/>
          <p:cNvSpPr txBox="1"/>
          <p:nvPr/>
        </p:nvSpPr>
        <p:spPr>
          <a:xfrm>
            <a:off x="3116562" y="2578608"/>
            <a:ext cx="292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209" name="Google Shape;209;p13"/>
          <p:cNvSpPr/>
          <p:nvPr/>
        </p:nvSpPr>
        <p:spPr>
          <a:xfrm>
            <a:off x="3429000" y="1737360"/>
            <a:ext cx="246888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3"/>
          <p:cNvSpPr txBox="1"/>
          <p:nvPr/>
        </p:nvSpPr>
        <p:spPr>
          <a:xfrm>
            <a:off x="3657600" y="199339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02  Calibração</a:t>
            </a:r>
            <a:endParaRPr/>
          </a:p>
        </p:txBody>
      </p:sp>
      <p:sp>
        <p:nvSpPr>
          <p:cNvPr id="211" name="Google Shape;211;p13"/>
          <p:cNvSpPr txBox="1"/>
          <p:nvPr/>
        </p:nvSpPr>
        <p:spPr>
          <a:xfrm>
            <a:off x="3657600" y="2523744"/>
            <a:ext cx="193852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ADWIN em grade de 96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2-fold por jogos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seleção e teste separados</a:t>
            </a:r>
            <a:endParaRPr/>
          </a:p>
        </p:txBody>
      </p:sp>
      <p:sp>
        <p:nvSpPr>
          <p:cNvPr id="212" name="Google Shape;212;p13"/>
          <p:cNvSpPr txBox="1"/>
          <p:nvPr/>
        </p:nvSpPr>
        <p:spPr>
          <a:xfrm>
            <a:off x="5951202" y="2578608"/>
            <a:ext cx="292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→</a:t>
            </a:r>
            <a:endParaRPr/>
          </a:p>
        </p:txBody>
      </p:sp>
      <p:sp>
        <p:nvSpPr>
          <p:cNvPr id="213" name="Google Shape;213;p13"/>
          <p:cNvSpPr/>
          <p:nvPr/>
        </p:nvSpPr>
        <p:spPr>
          <a:xfrm>
            <a:off x="6263640" y="1737360"/>
            <a:ext cx="2468880" cy="20574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3"/>
          <p:cNvSpPr txBox="1"/>
          <p:nvPr/>
        </p:nvSpPr>
        <p:spPr>
          <a:xfrm>
            <a:off x="6492240" y="1993392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03  Ação</a:t>
            </a:r>
            <a:endParaRPr/>
          </a:p>
        </p:txBody>
      </p:sp>
      <p:sp>
        <p:nvSpPr>
          <p:cNvPr id="215" name="Google Shape;215;p13"/>
          <p:cNvSpPr txBox="1"/>
          <p:nvPr/>
        </p:nvSpPr>
        <p:spPr>
          <a:xfrm>
            <a:off x="6492240" y="2523744"/>
            <a:ext cx="1938528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alarme primário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→ retreinar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camadas auxiliares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→ monitorar e confirmar</a:t>
            </a:r>
            <a:endParaRPr/>
          </a:p>
        </p:txBody>
      </p:sp>
      <p:sp>
        <p:nvSpPr>
          <p:cNvPr id="216" name="Google Shape;216;p13"/>
          <p:cNvSpPr txBox="1"/>
          <p:nvPr/>
        </p:nvSpPr>
        <p:spPr>
          <a:xfrm>
            <a:off x="1005840" y="4178808"/>
            <a:ext cx="7223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Pergunta operacional: o sinal é confiável o bastante para disparar retreinamento?</a:t>
            </a:r>
            <a:endParaRPr/>
          </a:p>
        </p:txBody>
      </p:sp>
      <p:pic>
        <p:nvPicPr>
          <p:cNvPr descr="image.png" id="217" name="Google Shape;21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8" name="Google Shape;21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Arquitetura de detecção em camadas</a:t>
            </a:r>
            <a:endParaRPr/>
          </a:p>
        </p:txBody>
      </p:sp>
      <p:sp>
        <p:nvSpPr>
          <p:cNvPr id="226" name="Google Shape;226;p14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Baseada exclusivamente no protocolo e nos resultados do artigo</a:t>
            </a:r>
            <a:endParaRPr/>
          </a:p>
        </p:txBody>
      </p:sp>
      <p:cxnSp>
        <p:nvCxnSpPr>
          <p:cNvPr id="227" name="Google Shape;227;p14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28" name="Google Shape;228;p14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12</a:t>
            </a:r>
            <a:endParaRPr/>
          </a:p>
        </p:txBody>
      </p:sp>
      <p:sp>
        <p:nvSpPr>
          <p:cNvPr id="229" name="Google Shape;229;p14"/>
          <p:cNvSpPr/>
          <p:nvPr/>
        </p:nvSpPr>
        <p:spPr>
          <a:xfrm>
            <a:off x="640080" y="1554480"/>
            <a:ext cx="123444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4"/>
          <p:cNvSpPr txBox="1"/>
          <p:nvPr/>
        </p:nvSpPr>
        <p:spPr>
          <a:xfrm>
            <a:off x="713231" y="1673352"/>
            <a:ext cx="10881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Camada</a:t>
            </a:r>
            <a:endParaRPr/>
          </a:p>
        </p:txBody>
      </p:sp>
      <p:sp>
        <p:nvSpPr>
          <p:cNvPr id="231" name="Google Shape;231;p14"/>
          <p:cNvSpPr/>
          <p:nvPr/>
        </p:nvSpPr>
        <p:spPr>
          <a:xfrm>
            <a:off x="1920240" y="1554480"/>
            <a:ext cx="214884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4"/>
          <p:cNvSpPr txBox="1"/>
          <p:nvPr/>
        </p:nvSpPr>
        <p:spPr>
          <a:xfrm>
            <a:off x="1993392" y="1673352"/>
            <a:ext cx="20025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Sinal</a:t>
            </a:r>
            <a:endParaRPr/>
          </a:p>
        </p:txBody>
      </p:sp>
      <p:sp>
        <p:nvSpPr>
          <p:cNvPr id="233" name="Google Shape;233;p14"/>
          <p:cNvSpPr/>
          <p:nvPr/>
        </p:nvSpPr>
        <p:spPr>
          <a:xfrm>
            <a:off x="4160520" y="1554480"/>
            <a:ext cx="150876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4"/>
          <p:cNvSpPr txBox="1"/>
          <p:nvPr/>
        </p:nvSpPr>
        <p:spPr>
          <a:xfrm>
            <a:off x="4233672" y="1673352"/>
            <a:ext cx="136245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FAR / 1k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(A / B)</a:t>
            </a:r>
            <a:endParaRPr/>
          </a:p>
        </p:txBody>
      </p:sp>
      <p:sp>
        <p:nvSpPr>
          <p:cNvPr id="235" name="Google Shape;235;p14"/>
          <p:cNvSpPr/>
          <p:nvPr/>
        </p:nvSpPr>
        <p:spPr>
          <a:xfrm>
            <a:off x="5852160" y="1554480"/>
            <a:ext cx="123444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4"/>
          <p:cNvSpPr txBox="1"/>
          <p:nvPr/>
        </p:nvSpPr>
        <p:spPr>
          <a:xfrm>
            <a:off x="5925312" y="1673352"/>
            <a:ext cx="10881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Cobertura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(A / B)</a:t>
            </a:r>
            <a:endParaRPr/>
          </a:p>
        </p:txBody>
      </p:sp>
      <p:sp>
        <p:nvSpPr>
          <p:cNvPr id="237" name="Google Shape;237;p14"/>
          <p:cNvSpPr/>
          <p:nvPr/>
        </p:nvSpPr>
        <p:spPr>
          <a:xfrm>
            <a:off x="7178040" y="1554480"/>
            <a:ext cx="1188720" cy="566928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4"/>
          <p:cNvSpPr txBox="1"/>
          <p:nvPr/>
        </p:nvSpPr>
        <p:spPr>
          <a:xfrm>
            <a:off x="7251192" y="1673352"/>
            <a:ext cx="104241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FFFFFF"/>
                </a:solidFill>
                <a:latin typeface="Google Sans"/>
                <a:ea typeface="Google Sans"/>
                <a:cs typeface="Google Sans"/>
                <a:sym typeface="Google Sans"/>
              </a:rPr>
              <a:t>Ação</a:t>
            </a:r>
            <a:endParaRPr/>
          </a:p>
        </p:txBody>
      </p:sp>
      <p:sp>
        <p:nvSpPr>
          <p:cNvPr id="239" name="Google Shape;239;p14"/>
          <p:cNvSpPr/>
          <p:nvPr/>
        </p:nvSpPr>
        <p:spPr>
          <a:xfrm>
            <a:off x="640080" y="2212848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4"/>
          <p:cNvSpPr txBox="1"/>
          <p:nvPr/>
        </p:nvSpPr>
        <p:spPr>
          <a:xfrm>
            <a:off x="694944" y="2322576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Primária</a:t>
            </a:r>
            <a:endParaRPr/>
          </a:p>
        </p:txBody>
      </p:sp>
      <p:sp>
        <p:nvSpPr>
          <p:cNvPr id="241" name="Google Shape;241;p14"/>
          <p:cNvSpPr/>
          <p:nvPr/>
        </p:nvSpPr>
        <p:spPr>
          <a:xfrm>
            <a:off x="1920240" y="2212848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4"/>
          <p:cNvSpPr txBox="1"/>
          <p:nvPr/>
        </p:nvSpPr>
        <p:spPr>
          <a:xfrm>
            <a:off x="1975104" y="2322576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seq2seq</a:t>
            </a:r>
            <a:endParaRPr/>
          </a:p>
        </p:txBody>
      </p:sp>
      <p:sp>
        <p:nvSpPr>
          <p:cNvPr id="243" name="Google Shape;243;p14"/>
          <p:cNvSpPr/>
          <p:nvPr/>
        </p:nvSpPr>
        <p:spPr>
          <a:xfrm>
            <a:off x="4160520" y="2212848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4"/>
          <p:cNvSpPr txBox="1"/>
          <p:nvPr/>
        </p:nvSpPr>
        <p:spPr>
          <a:xfrm>
            <a:off x="4215383" y="2322576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0,042 / 0,125</a:t>
            </a:r>
            <a:endParaRPr/>
          </a:p>
        </p:txBody>
      </p:sp>
      <p:sp>
        <p:nvSpPr>
          <p:cNvPr id="245" name="Google Shape;245;p14"/>
          <p:cNvSpPr/>
          <p:nvPr/>
        </p:nvSpPr>
        <p:spPr>
          <a:xfrm>
            <a:off x="5852160" y="2212848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4"/>
          <p:cNvSpPr txBox="1"/>
          <p:nvPr/>
        </p:nvSpPr>
        <p:spPr>
          <a:xfrm>
            <a:off x="5907024" y="2322576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5/5 · 4/5</a:t>
            </a:r>
            <a:endParaRPr/>
          </a:p>
        </p:txBody>
      </p:sp>
      <p:sp>
        <p:nvSpPr>
          <p:cNvPr id="247" name="Google Shape;247;p14"/>
          <p:cNvSpPr/>
          <p:nvPr/>
        </p:nvSpPr>
        <p:spPr>
          <a:xfrm>
            <a:off x="7178040" y="2212848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4"/>
          <p:cNvSpPr txBox="1"/>
          <p:nvPr/>
        </p:nvSpPr>
        <p:spPr>
          <a:xfrm>
            <a:off x="7232903" y="2322576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retreinar</a:t>
            </a:r>
            <a:endParaRPr/>
          </a:p>
        </p:txBody>
      </p:sp>
      <p:sp>
        <p:nvSpPr>
          <p:cNvPr id="249" name="Google Shape;249;p14"/>
          <p:cNvSpPr/>
          <p:nvPr/>
        </p:nvSpPr>
        <p:spPr>
          <a:xfrm>
            <a:off x="640080" y="2697480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4"/>
          <p:cNvSpPr txBox="1"/>
          <p:nvPr/>
        </p:nvSpPr>
        <p:spPr>
          <a:xfrm>
            <a:off x="694944" y="2807208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Vigilância</a:t>
            </a:r>
            <a:endParaRPr/>
          </a:p>
        </p:txBody>
      </p:sp>
      <p:sp>
        <p:nvSpPr>
          <p:cNvPr id="251" name="Google Shape;251;p14"/>
          <p:cNvSpPr/>
          <p:nvPr/>
        </p:nvSpPr>
        <p:spPr>
          <a:xfrm>
            <a:off x="1920240" y="2697480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4"/>
          <p:cNvSpPr txBox="1"/>
          <p:nvPr/>
        </p:nvSpPr>
        <p:spPr>
          <a:xfrm>
            <a:off x="1975104" y="2807208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accel_p95</a:t>
            </a:r>
            <a:endParaRPr/>
          </a:p>
        </p:txBody>
      </p:sp>
      <p:sp>
        <p:nvSpPr>
          <p:cNvPr id="253" name="Google Shape;253;p14"/>
          <p:cNvSpPr/>
          <p:nvPr/>
        </p:nvSpPr>
        <p:spPr>
          <a:xfrm>
            <a:off x="4160520" y="2697480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4"/>
          <p:cNvSpPr txBox="1"/>
          <p:nvPr/>
        </p:nvSpPr>
        <p:spPr>
          <a:xfrm>
            <a:off x="4215383" y="2807208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0,292 / 0,250</a:t>
            </a:r>
            <a:endParaRPr/>
          </a:p>
        </p:txBody>
      </p:sp>
      <p:sp>
        <p:nvSpPr>
          <p:cNvPr id="255" name="Google Shape;255;p14"/>
          <p:cNvSpPr/>
          <p:nvPr/>
        </p:nvSpPr>
        <p:spPr>
          <a:xfrm>
            <a:off x="5852160" y="2697480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4"/>
          <p:cNvSpPr txBox="1"/>
          <p:nvPr/>
        </p:nvSpPr>
        <p:spPr>
          <a:xfrm>
            <a:off x="5907024" y="2807208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5/5 · 5/5</a:t>
            </a:r>
            <a:endParaRPr/>
          </a:p>
        </p:txBody>
      </p:sp>
      <p:sp>
        <p:nvSpPr>
          <p:cNvPr id="257" name="Google Shape;257;p14"/>
          <p:cNvSpPr/>
          <p:nvPr/>
        </p:nvSpPr>
        <p:spPr>
          <a:xfrm>
            <a:off x="7178040" y="2697480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4"/>
          <p:cNvSpPr txBox="1"/>
          <p:nvPr/>
        </p:nvSpPr>
        <p:spPr>
          <a:xfrm>
            <a:off x="7232903" y="2807208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monitorar</a:t>
            </a:r>
            <a:endParaRPr/>
          </a:p>
        </p:txBody>
      </p:sp>
      <p:sp>
        <p:nvSpPr>
          <p:cNvPr id="259" name="Google Shape;259;p14"/>
          <p:cNvSpPr/>
          <p:nvPr/>
        </p:nvSpPr>
        <p:spPr>
          <a:xfrm>
            <a:off x="640080" y="3182112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4"/>
          <p:cNvSpPr txBox="1"/>
          <p:nvPr/>
        </p:nvSpPr>
        <p:spPr>
          <a:xfrm>
            <a:off x="694944" y="3291840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Confirmação</a:t>
            </a:r>
            <a:endParaRPr/>
          </a:p>
        </p:txBody>
      </p:sp>
      <p:sp>
        <p:nvSpPr>
          <p:cNvPr id="261" name="Google Shape;261;p14"/>
          <p:cNvSpPr/>
          <p:nvPr/>
        </p:nvSpPr>
        <p:spPr>
          <a:xfrm>
            <a:off x="1920240" y="3182112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4"/>
          <p:cNvSpPr txBox="1"/>
          <p:nvPr/>
        </p:nvSpPr>
        <p:spPr>
          <a:xfrm>
            <a:off x="1975104" y="3291840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AND(ADE, accel)</a:t>
            </a:r>
            <a:endParaRPr/>
          </a:p>
        </p:txBody>
      </p:sp>
      <p:sp>
        <p:nvSpPr>
          <p:cNvPr id="263" name="Google Shape;263;p14"/>
          <p:cNvSpPr/>
          <p:nvPr/>
        </p:nvSpPr>
        <p:spPr>
          <a:xfrm>
            <a:off x="4160520" y="3182112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4"/>
          <p:cNvSpPr txBox="1"/>
          <p:nvPr/>
        </p:nvSpPr>
        <p:spPr>
          <a:xfrm>
            <a:off x="4215383" y="3291840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0,000 / 0,000</a:t>
            </a:r>
            <a:endParaRPr/>
          </a:p>
        </p:txBody>
      </p:sp>
      <p:sp>
        <p:nvSpPr>
          <p:cNvPr id="265" name="Google Shape;265;p14"/>
          <p:cNvSpPr/>
          <p:nvPr/>
        </p:nvSpPr>
        <p:spPr>
          <a:xfrm>
            <a:off x="5852160" y="3182112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4"/>
          <p:cNvSpPr txBox="1"/>
          <p:nvPr/>
        </p:nvSpPr>
        <p:spPr>
          <a:xfrm>
            <a:off x="5907024" y="3291840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3/5 · 2/5</a:t>
            </a:r>
            <a:endParaRPr/>
          </a:p>
        </p:txBody>
      </p:sp>
      <p:sp>
        <p:nvSpPr>
          <p:cNvPr id="267" name="Google Shape;267;p14"/>
          <p:cNvSpPr/>
          <p:nvPr/>
        </p:nvSpPr>
        <p:spPr>
          <a:xfrm>
            <a:off x="7178040" y="3182112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4"/>
          <p:cNvSpPr txBox="1"/>
          <p:nvPr/>
        </p:nvSpPr>
        <p:spPr>
          <a:xfrm>
            <a:off x="7232903" y="3291840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confirmar</a:t>
            </a:r>
            <a:endParaRPr/>
          </a:p>
        </p:txBody>
      </p:sp>
      <p:sp>
        <p:nvSpPr>
          <p:cNvPr id="269" name="Google Shape;269;p14"/>
          <p:cNvSpPr/>
          <p:nvPr/>
        </p:nvSpPr>
        <p:spPr>
          <a:xfrm>
            <a:off x="640080" y="3666744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4"/>
          <p:cNvSpPr txBox="1"/>
          <p:nvPr/>
        </p:nvSpPr>
        <p:spPr>
          <a:xfrm>
            <a:off x="694944" y="3776472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69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Corroboração</a:t>
            </a:r>
            <a:endParaRPr/>
          </a:p>
        </p:txBody>
      </p:sp>
      <p:sp>
        <p:nvSpPr>
          <p:cNvPr id="271" name="Google Shape;271;p14"/>
          <p:cNvSpPr/>
          <p:nvPr/>
        </p:nvSpPr>
        <p:spPr>
          <a:xfrm>
            <a:off x="1920240" y="3666744"/>
            <a:ext cx="21488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4"/>
          <p:cNvSpPr txBox="1"/>
          <p:nvPr/>
        </p:nvSpPr>
        <p:spPr>
          <a:xfrm>
            <a:off x="1975104" y="3776472"/>
            <a:ext cx="20391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do filtro de Kalman</a:t>
            </a:r>
            <a:endParaRPr/>
          </a:p>
        </p:txBody>
      </p:sp>
      <p:sp>
        <p:nvSpPr>
          <p:cNvPr id="273" name="Google Shape;273;p14"/>
          <p:cNvSpPr/>
          <p:nvPr/>
        </p:nvSpPr>
        <p:spPr>
          <a:xfrm>
            <a:off x="4160520" y="3666744"/>
            <a:ext cx="150876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4"/>
          <p:cNvSpPr txBox="1"/>
          <p:nvPr/>
        </p:nvSpPr>
        <p:spPr>
          <a:xfrm>
            <a:off x="4215383" y="3776472"/>
            <a:ext cx="139903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0,167 / 0,083</a:t>
            </a:r>
            <a:endParaRPr/>
          </a:p>
        </p:txBody>
      </p:sp>
      <p:sp>
        <p:nvSpPr>
          <p:cNvPr id="275" name="Google Shape;275;p14"/>
          <p:cNvSpPr/>
          <p:nvPr/>
        </p:nvSpPr>
        <p:spPr>
          <a:xfrm>
            <a:off x="5852160" y="3666744"/>
            <a:ext cx="123444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4"/>
          <p:cNvSpPr txBox="1"/>
          <p:nvPr/>
        </p:nvSpPr>
        <p:spPr>
          <a:xfrm>
            <a:off x="5907024" y="3776472"/>
            <a:ext cx="112471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5/5 · 5/5</a:t>
            </a:r>
            <a:endParaRPr/>
          </a:p>
        </p:txBody>
      </p:sp>
      <p:sp>
        <p:nvSpPr>
          <p:cNvPr id="277" name="Google Shape;277;p14"/>
          <p:cNvSpPr/>
          <p:nvPr/>
        </p:nvSpPr>
        <p:spPr>
          <a:xfrm>
            <a:off x="7178040" y="3666744"/>
            <a:ext cx="1188720" cy="438912"/>
          </a:xfrm>
          <a:prstGeom prst="roundRect">
            <a:avLst>
              <a:gd fmla="val 8000" name="adj"/>
            </a:avLst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4"/>
          <p:cNvSpPr txBox="1"/>
          <p:nvPr/>
        </p:nvSpPr>
        <p:spPr>
          <a:xfrm>
            <a:off x="7232903" y="3776472"/>
            <a:ext cx="10789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69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redundância</a:t>
            </a:r>
            <a:endParaRPr/>
          </a:p>
        </p:txBody>
      </p:sp>
      <p:sp>
        <p:nvSpPr>
          <p:cNvPr id="279" name="Google Shape;279;p14"/>
          <p:cNvSpPr txBox="1"/>
          <p:nvPr/>
        </p:nvSpPr>
        <p:spPr>
          <a:xfrm>
            <a:off x="685800" y="4434840"/>
            <a:ext cx="795527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19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Resultados fora da amostra. A camada de aceleração antecipa a de erro em 8 de 10 folds anuais.</a:t>
            </a:r>
            <a:endParaRPr/>
          </a:p>
        </p:txBody>
      </p:sp>
      <p:pic>
        <p:nvPicPr>
          <p:cNvPr descr="image.png" id="280" name="Google Shape;28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5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Resultado 5 — detector primário confiável</a:t>
            </a:r>
            <a:endParaRPr/>
          </a:p>
        </p:txBody>
      </p:sp>
      <p:sp>
        <p:nvSpPr>
          <p:cNvPr id="289" name="Google Shape;289;p15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ADWIN sobre o erro normalizado alcança baixa taxa de alarmes fora da amostra</a:t>
            </a:r>
            <a:endParaRPr/>
          </a:p>
        </p:txBody>
      </p:sp>
      <p:cxnSp>
        <p:nvCxnSpPr>
          <p:cNvPr id="290" name="Google Shape;290;p15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291" name="Google Shape;291;p15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13</a:t>
            </a:r>
            <a:endParaRPr/>
          </a:p>
        </p:txBody>
      </p:sp>
      <p:sp>
        <p:nvSpPr>
          <p:cNvPr id="292" name="Google Shape;292;p15"/>
          <p:cNvSpPr/>
          <p:nvPr/>
        </p:nvSpPr>
        <p:spPr>
          <a:xfrm>
            <a:off x="640080" y="1417320"/>
            <a:ext cx="2487168" cy="16002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5"/>
          <p:cNvSpPr txBox="1"/>
          <p:nvPr/>
        </p:nvSpPr>
        <p:spPr>
          <a:xfrm>
            <a:off x="822959" y="1636776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0,042 – 0,125</a:t>
            </a:r>
            <a:endParaRPr/>
          </a:p>
        </p:txBody>
      </p:sp>
      <p:sp>
        <p:nvSpPr>
          <p:cNvPr id="294" name="Google Shape;294;p15"/>
          <p:cNvSpPr txBox="1"/>
          <p:nvPr/>
        </p:nvSpPr>
        <p:spPr>
          <a:xfrm>
            <a:off x="822959" y="2185416"/>
            <a:ext cx="21214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POR MIL TRAJETÓRIAS</a:t>
            </a:r>
            <a:endParaRPr/>
          </a:p>
        </p:txBody>
      </p:sp>
      <p:sp>
        <p:nvSpPr>
          <p:cNvPr id="295" name="Google Shape;295;p15"/>
          <p:cNvSpPr txBox="1"/>
          <p:nvPr/>
        </p:nvSpPr>
        <p:spPr>
          <a:xfrm>
            <a:off x="822959" y="2386584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falsos alarmes em 2019, nos folds A e B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(teto de admissibilidade: 0,20)</a:t>
            </a:r>
            <a:endParaRPr/>
          </a:p>
        </p:txBody>
      </p:sp>
      <p:sp>
        <p:nvSpPr>
          <p:cNvPr id="296" name="Google Shape;296;p15"/>
          <p:cNvSpPr/>
          <p:nvPr/>
        </p:nvSpPr>
        <p:spPr>
          <a:xfrm>
            <a:off x="3328416" y="1417320"/>
            <a:ext cx="2487168" cy="16002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5"/>
          <p:cNvSpPr txBox="1"/>
          <p:nvPr/>
        </p:nvSpPr>
        <p:spPr>
          <a:xfrm>
            <a:off x="3511296" y="1636776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9 / 10</a:t>
            </a:r>
            <a:endParaRPr/>
          </a:p>
        </p:txBody>
      </p:sp>
      <p:sp>
        <p:nvSpPr>
          <p:cNvPr id="298" name="Google Shape;298;p15"/>
          <p:cNvSpPr txBox="1"/>
          <p:nvPr/>
        </p:nvSpPr>
        <p:spPr>
          <a:xfrm>
            <a:off x="3511296" y="2185416"/>
            <a:ext cx="21214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COBERTURA</a:t>
            </a:r>
            <a:endParaRPr/>
          </a:p>
        </p:txBody>
      </p:sp>
      <p:sp>
        <p:nvSpPr>
          <p:cNvPr id="299" name="Google Shape;299;p15"/>
          <p:cNvSpPr txBox="1"/>
          <p:nvPr/>
        </p:nvSpPr>
        <p:spPr>
          <a:xfrm>
            <a:off x="3511296" y="2386584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ano-folds com pelo menos um alarme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na temporada em que houve drift</a:t>
            </a:r>
            <a:endParaRPr/>
          </a:p>
        </p:txBody>
      </p:sp>
      <p:sp>
        <p:nvSpPr>
          <p:cNvPr id="300" name="Google Shape;300;p15"/>
          <p:cNvSpPr/>
          <p:nvPr/>
        </p:nvSpPr>
        <p:spPr>
          <a:xfrm>
            <a:off x="6016752" y="1417320"/>
            <a:ext cx="2487168" cy="160020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5"/>
          <p:cNvSpPr txBox="1"/>
          <p:nvPr/>
        </p:nvSpPr>
        <p:spPr>
          <a:xfrm>
            <a:off x="6199632" y="1636776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0,2 – 1,5</a:t>
            </a:r>
            <a:endParaRPr/>
          </a:p>
        </p:txBody>
      </p:sp>
      <p:sp>
        <p:nvSpPr>
          <p:cNvPr id="302" name="Google Shape;302;p15"/>
          <p:cNvSpPr txBox="1"/>
          <p:nvPr/>
        </p:nvSpPr>
        <p:spPr>
          <a:xfrm>
            <a:off x="6199632" y="2185416"/>
            <a:ext cx="21214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JOGOS DE LATÊNCIA</a:t>
            </a:r>
            <a:endParaRPr/>
          </a:p>
        </p:txBody>
      </p:sp>
      <p:sp>
        <p:nvSpPr>
          <p:cNvPr id="303" name="Google Shape;303;p15"/>
          <p:cNvSpPr txBox="1"/>
          <p:nvPr/>
        </p:nvSpPr>
        <p:spPr>
          <a:xfrm>
            <a:off x="6199632" y="2386584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até o primeiro alarme depois da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virada de cada temporada</a:t>
            </a:r>
            <a:endParaRPr/>
          </a:p>
        </p:txBody>
      </p:sp>
      <p:sp>
        <p:nvSpPr>
          <p:cNvPr id="304" name="Google Shape;304;p15"/>
          <p:cNvSpPr/>
          <p:nvPr/>
        </p:nvSpPr>
        <p:spPr>
          <a:xfrm>
            <a:off x="640080" y="3200400"/>
            <a:ext cx="3840480" cy="123444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5"/>
          <p:cNvSpPr/>
          <p:nvPr/>
        </p:nvSpPr>
        <p:spPr>
          <a:xfrm>
            <a:off x="804671" y="3401568"/>
            <a:ext cx="64008" cy="83210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5"/>
          <p:cNvSpPr txBox="1"/>
          <p:nvPr/>
        </p:nvSpPr>
        <p:spPr>
          <a:xfrm>
            <a:off x="1024127" y="340156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SEM NORMALIZAÇÃO NÃO HÁ DETECTOR</a:t>
            </a:r>
            <a:endParaRPr/>
          </a:p>
        </p:txBody>
      </p:sp>
      <p:sp>
        <p:nvSpPr>
          <p:cNvPr id="307" name="Google Shape;307;p15"/>
          <p:cNvSpPr txBox="1"/>
          <p:nvPr/>
        </p:nvSpPr>
        <p:spPr>
          <a:xfrm>
            <a:off x="1024127" y="3758184"/>
            <a:ext cx="3291840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Nenhuma das 96 configurações é admissível no sinal bruto, e os 21 suavizadores testados pioram o FAR.</a:t>
            </a:r>
            <a:endParaRPr/>
          </a:p>
        </p:txBody>
      </p:sp>
      <p:sp>
        <p:nvSpPr>
          <p:cNvPr id="308" name="Google Shape;308;p15"/>
          <p:cNvSpPr/>
          <p:nvPr/>
        </p:nvSpPr>
        <p:spPr>
          <a:xfrm>
            <a:off x="4663440" y="3200400"/>
            <a:ext cx="3840480" cy="123444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5"/>
          <p:cNvSpPr/>
          <p:nvPr/>
        </p:nvSpPr>
        <p:spPr>
          <a:xfrm>
            <a:off x="4828031" y="3401568"/>
            <a:ext cx="64008" cy="83210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5"/>
          <p:cNvSpPr txBox="1"/>
          <p:nvPr/>
        </p:nvSpPr>
        <p:spPr>
          <a:xfrm>
            <a:off x="5047488" y="340156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SEM HOLDOUT, OUTRA ESCOLHA</a:t>
            </a:r>
            <a:endParaRPr/>
          </a:p>
        </p:txBody>
      </p:sp>
      <p:sp>
        <p:nvSpPr>
          <p:cNvPr id="311" name="Google Shape;311;p15"/>
          <p:cNvSpPr txBox="1"/>
          <p:nvPr/>
        </p:nvSpPr>
        <p:spPr>
          <a:xfrm>
            <a:off x="5047488" y="3758184"/>
            <a:ext cx="3291840" cy="5212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 configuração vencedora dentro da amostra mantém FAR ≈ 0 e cobre só 2–3 de 5 temporadas fora dela.</a:t>
            </a:r>
            <a:endParaRPr/>
          </a:p>
        </p:txBody>
      </p:sp>
      <p:sp>
        <p:nvSpPr>
          <p:cNvPr id="312" name="Google Shape;312;p15"/>
          <p:cNvSpPr txBox="1"/>
          <p:nvPr/>
        </p:nvSpPr>
        <p:spPr>
          <a:xfrm>
            <a:off x="731520" y="4507992"/>
            <a:ext cx="7680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3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Todos os números são fora da amostra: a calibração usa metade dos jogos de cada ano e a outra metade é avaliada uma única vez.</a:t>
            </a:r>
            <a:endParaRPr/>
          </a:p>
        </p:txBody>
      </p:sp>
      <p:pic>
        <p:nvPicPr>
          <p:cNvPr descr="image.png" id="313" name="Google Shape;3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4" name="Google Shape;3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6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Conclusões</a:t>
            </a:r>
            <a:endParaRPr/>
          </a:p>
        </p:txBody>
      </p:sp>
      <p:sp>
        <p:nvSpPr>
          <p:cNvPr id="322" name="Google Shape;322;p16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 que o estudo entrega</a:t>
            </a:r>
            <a:endParaRPr/>
          </a:p>
        </p:txBody>
      </p:sp>
      <p:cxnSp>
        <p:nvCxnSpPr>
          <p:cNvPr id="323" name="Google Shape;323;p16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24" name="Google Shape;324;p16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14</a:t>
            </a:r>
            <a:endParaRPr/>
          </a:p>
        </p:txBody>
      </p:sp>
      <p:sp>
        <p:nvSpPr>
          <p:cNvPr id="325" name="Google Shape;325;p16"/>
          <p:cNvSpPr/>
          <p:nvPr/>
        </p:nvSpPr>
        <p:spPr>
          <a:xfrm>
            <a:off x="640080" y="1508760"/>
            <a:ext cx="2487168" cy="256032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6"/>
          <p:cNvSpPr/>
          <p:nvPr/>
        </p:nvSpPr>
        <p:spPr>
          <a:xfrm>
            <a:off x="804671" y="1709928"/>
            <a:ext cx="64008" cy="215798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6"/>
          <p:cNvSpPr txBox="1"/>
          <p:nvPr/>
        </p:nvSpPr>
        <p:spPr>
          <a:xfrm>
            <a:off x="1024127" y="1709928"/>
            <a:ext cx="19385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MEDIR</a:t>
            </a:r>
            <a:endParaRPr/>
          </a:p>
        </p:txBody>
      </p:sp>
      <p:sp>
        <p:nvSpPr>
          <p:cNvPr id="328" name="Google Shape;328;p16"/>
          <p:cNvSpPr txBox="1"/>
          <p:nvPr/>
        </p:nvSpPr>
        <p:spPr>
          <a:xfrm>
            <a:off x="1024127" y="2066543"/>
            <a:ext cx="1938528" cy="1847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Drift persistente após o treino. O baseline do filtro de Kalman piora ainda mais, porque os robôs se afastam do modelo de velocidade constante.</a:t>
            </a:r>
            <a:endParaRPr/>
          </a:p>
        </p:txBody>
      </p:sp>
      <p:sp>
        <p:nvSpPr>
          <p:cNvPr id="329" name="Google Shape;329;p16"/>
          <p:cNvSpPr/>
          <p:nvPr/>
        </p:nvSpPr>
        <p:spPr>
          <a:xfrm>
            <a:off x="3328416" y="1508760"/>
            <a:ext cx="2487168" cy="256032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6"/>
          <p:cNvSpPr/>
          <p:nvPr/>
        </p:nvSpPr>
        <p:spPr>
          <a:xfrm>
            <a:off x="3493008" y="1709928"/>
            <a:ext cx="64008" cy="215798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6"/>
          <p:cNvSpPr txBox="1"/>
          <p:nvPr/>
        </p:nvSpPr>
        <p:spPr>
          <a:xfrm>
            <a:off x="3712464" y="1709928"/>
            <a:ext cx="19385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EXPLICAR</a:t>
            </a:r>
            <a:endParaRPr/>
          </a:p>
        </p:txBody>
      </p:sp>
      <p:sp>
        <p:nvSpPr>
          <p:cNvPr id="332" name="Google Shape;332;p16"/>
          <p:cNvSpPr txBox="1"/>
          <p:nvPr/>
        </p:nvSpPr>
        <p:spPr>
          <a:xfrm>
            <a:off x="3712464" y="2066543"/>
            <a:ext cx="1938528" cy="1847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59–72% do excesso é covariate shift, com aceleração na cauda como vetor dominante.</a:t>
            </a:r>
            <a:endParaRPr/>
          </a:p>
        </p:txBody>
      </p:sp>
      <p:sp>
        <p:nvSpPr>
          <p:cNvPr id="333" name="Google Shape;333;p16"/>
          <p:cNvSpPr/>
          <p:nvPr/>
        </p:nvSpPr>
        <p:spPr>
          <a:xfrm>
            <a:off x="6016752" y="1508760"/>
            <a:ext cx="2487168" cy="256032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6"/>
          <p:cNvSpPr/>
          <p:nvPr/>
        </p:nvSpPr>
        <p:spPr>
          <a:xfrm>
            <a:off x="6181344" y="1709928"/>
            <a:ext cx="64008" cy="215798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6"/>
          <p:cNvSpPr txBox="1"/>
          <p:nvPr/>
        </p:nvSpPr>
        <p:spPr>
          <a:xfrm>
            <a:off x="6400800" y="1709928"/>
            <a:ext cx="19385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AGIR</a:t>
            </a:r>
            <a:endParaRPr/>
          </a:p>
        </p:txBody>
      </p:sp>
      <p:sp>
        <p:nvSpPr>
          <p:cNvPr id="336" name="Google Shape;336;p16"/>
          <p:cNvSpPr txBox="1"/>
          <p:nvPr/>
        </p:nvSpPr>
        <p:spPr>
          <a:xfrm>
            <a:off x="6400800" y="2066543"/>
            <a:ext cx="1938528" cy="18470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Replay ponderado reduz esquecimento; ADWIN normalizado fornece gatilho mensurável para retreinamento.</a:t>
            </a:r>
            <a:endParaRPr/>
          </a:p>
        </p:txBody>
      </p:sp>
      <p:pic>
        <p:nvPicPr>
          <p:cNvPr descr="image.png" id="337" name="Google Shape;3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8" name="Google Shape;338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9" name="Google Shape;339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7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Limitações e próximos passos</a:t>
            </a:r>
            <a:endParaRPr/>
          </a:p>
        </p:txBody>
      </p:sp>
      <p:sp>
        <p:nvSpPr>
          <p:cNvPr id="346" name="Google Shape;346;p17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Onde as conclusões devem ser interpretadas com cuidado</a:t>
            </a:r>
            <a:endParaRPr/>
          </a:p>
        </p:txBody>
      </p:sp>
      <p:cxnSp>
        <p:nvCxnSpPr>
          <p:cNvPr id="347" name="Google Shape;347;p17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48" name="Google Shape;348;p17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15</a:t>
            </a:r>
            <a:endParaRPr/>
          </a:p>
        </p:txBody>
      </p:sp>
      <p:sp>
        <p:nvSpPr>
          <p:cNvPr id="349" name="Google Shape;349;p17"/>
          <p:cNvSpPr/>
          <p:nvPr/>
        </p:nvSpPr>
        <p:spPr>
          <a:xfrm>
            <a:off x="640080" y="1508760"/>
            <a:ext cx="251460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7"/>
          <p:cNvSpPr/>
          <p:nvPr/>
        </p:nvSpPr>
        <p:spPr>
          <a:xfrm>
            <a:off x="804671" y="170992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7"/>
          <p:cNvSpPr txBox="1"/>
          <p:nvPr/>
        </p:nvSpPr>
        <p:spPr>
          <a:xfrm>
            <a:off x="1024127" y="170992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LIMITAÇÕES</a:t>
            </a:r>
            <a:endParaRPr/>
          </a:p>
        </p:txBody>
      </p:sp>
      <p:sp>
        <p:nvSpPr>
          <p:cNvPr id="352" name="Google Shape;352;p17"/>
          <p:cNvSpPr txBox="1"/>
          <p:nvPr/>
        </p:nvSpPr>
        <p:spPr>
          <a:xfrm>
            <a:off x="1024127" y="2066543"/>
            <a:ext cx="19659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2021 mistura o gap entre simulação e realidade com o drift sazonal.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Só a Divisão A e seis jogos por temporada.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ADE é uma métrica single-mode.</a:t>
            </a:r>
            <a:endParaRPr/>
          </a:p>
        </p:txBody>
      </p:sp>
      <p:sp>
        <p:nvSpPr>
          <p:cNvPr id="353" name="Google Shape;353;p17"/>
          <p:cNvSpPr/>
          <p:nvPr/>
        </p:nvSpPr>
        <p:spPr>
          <a:xfrm>
            <a:off x="3310128" y="1508760"/>
            <a:ext cx="251460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7"/>
          <p:cNvSpPr/>
          <p:nvPr/>
        </p:nvSpPr>
        <p:spPr>
          <a:xfrm>
            <a:off x="3474720" y="170992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7"/>
          <p:cNvSpPr txBox="1"/>
          <p:nvPr/>
        </p:nvSpPr>
        <p:spPr>
          <a:xfrm>
            <a:off x="3694176" y="170992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CUIDADO OPERACIONAL</a:t>
            </a:r>
            <a:endParaRPr/>
          </a:p>
        </p:txBody>
      </p:sp>
      <p:sp>
        <p:nvSpPr>
          <p:cNvPr id="356" name="Google Shape;356;p17"/>
          <p:cNvSpPr txBox="1"/>
          <p:nvPr/>
        </p:nvSpPr>
        <p:spPr>
          <a:xfrm>
            <a:off x="3694176" y="2066543"/>
            <a:ext cx="19659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Normalização robusta pressupõe drift gradual.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Há autocorrelação entre trajetórias.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 fração residual de concept drift não foi isolada por variável.</a:t>
            </a:r>
            <a:endParaRPr/>
          </a:p>
        </p:txBody>
      </p:sp>
      <p:sp>
        <p:nvSpPr>
          <p:cNvPr id="357" name="Google Shape;357;p17"/>
          <p:cNvSpPr/>
          <p:nvPr/>
        </p:nvSpPr>
        <p:spPr>
          <a:xfrm>
            <a:off x="5980176" y="1508760"/>
            <a:ext cx="2514600" cy="2423160"/>
          </a:xfrm>
          <a:prstGeom prst="roundRect">
            <a:avLst>
              <a:gd fmla="val 8000" name="adj"/>
            </a:avLst>
          </a:prstGeom>
          <a:solidFill>
            <a:srgbClr val="F7F5F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7"/>
          <p:cNvSpPr/>
          <p:nvPr/>
        </p:nvSpPr>
        <p:spPr>
          <a:xfrm>
            <a:off x="6144768" y="1709928"/>
            <a:ext cx="64008" cy="2020824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7"/>
          <p:cNvSpPr txBox="1"/>
          <p:nvPr/>
        </p:nvSpPr>
        <p:spPr>
          <a:xfrm>
            <a:off x="6364224" y="1709928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PRÓXIMOS PASSOS</a:t>
            </a:r>
            <a:endParaRPr/>
          </a:p>
        </p:txBody>
      </p:sp>
      <p:sp>
        <p:nvSpPr>
          <p:cNvPr id="360" name="Google Shape;360;p17"/>
          <p:cNvSpPr txBox="1"/>
          <p:nvPr/>
        </p:nvSpPr>
        <p:spPr>
          <a:xfrm>
            <a:off x="6364224" y="2066543"/>
            <a:ext cx="19659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Retreinar o encoder.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Escalar o replay ponderado.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50" u="none" cap="none" strike="noStrike">
              <a:solidFill>
                <a:srgbClr val="5A5852"/>
              </a:solidFill>
              <a:latin typeface="Google Sans"/>
              <a:ea typeface="Google Sans"/>
              <a:cs typeface="Google Sans"/>
              <a:sym typeface="Google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Avaliar preditores multimodais e mais temporadas.</a:t>
            </a:r>
            <a:endParaRPr/>
          </a:p>
        </p:txBody>
      </p:sp>
      <p:pic>
        <p:nvPicPr>
          <p:cNvPr descr="image.png" id="361" name="Google Shape;36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2" name="Google Shape;36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8"/>
          <p:cNvSpPr txBox="1"/>
          <p:nvPr/>
        </p:nvSpPr>
        <p:spPr>
          <a:xfrm>
            <a:off x="502920" y="484632"/>
            <a:ext cx="8046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Referências essenciais</a:t>
            </a:r>
            <a:endParaRPr/>
          </a:p>
        </p:txBody>
      </p:sp>
      <p:sp>
        <p:nvSpPr>
          <p:cNvPr id="370" name="Google Shape;370;p18"/>
          <p:cNvSpPr txBox="1"/>
          <p:nvPr/>
        </p:nvSpPr>
        <p:spPr>
          <a:xfrm>
            <a:off x="502920" y="850392"/>
            <a:ext cx="80467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Trabalhos que estruturam o modelo, o diagnóstico e a detecção</a:t>
            </a:r>
            <a:endParaRPr/>
          </a:p>
        </p:txBody>
      </p:sp>
      <p:cxnSp>
        <p:nvCxnSpPr>
          <p:cNvPr id="371" name="Google Shape;371;p18"/>
          <p:cNvCxnSpPr/>
          <p:nvPr/>
        </p:nvCxnSpPr>
        <p:spPr>
          <a:xfrm>
            <a:off x="502920" y="1170432"/>
            <a:ext cx="813816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2" name="Google Shape;372;p18"/>
          <p:cNvSpPr txBox="1"/>
          <p:nvPr/>
        </p:nvSpPr>
        <p:spPr>
          <a:xfrm>
            <a:off x="8549640" y="4645152"/>
            <a:ext cx="3200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E9B92"/>
                </a:solidFill>
                <a:latin typeface="Google Sans"/>
                <a:ea typeface="Google Sans"/>
                <a:cs typeface="Google Sans"/>
                <a:sym typeface="Google Sans"/>
              </a:rPr>
              <a:t>16</a:t>
            </a:r>
            <a:endParaRPr/>
          </a:p>
        </p:txBody>
      </p:sp>
      <p:sp>
        <p:nvSpPr>
          <p:cNvPr id="373" name="Google Shape;373;p18"/>
          <p:cNvSpPr txBox="1"/>
          <p:nvPr/>
        </p:nvSpPr>
        <p:spPr>
          <a:xfrm>
            <a:off x="777240" y="1508760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Steuernagel, L.; Máximo, M. R. O. A. Trajectory prediction for SSL robots using seq2seq neural networks. RoboCup 2022, LNCS 13561, Springer, 2023.</a:t>
            </a:r>
            <a:endParaRPr/>
          </a:p>
        </p:txBody>
      </p:sp>
      <p:cxnSp>
        <p:nvCxnSpPr>
          <p:cNvPr id="374" name="Google Shape;374;p18"/>
          <p:cNvCxnSpPr/>
          <p:nvPr/>
        </p:nvCxnSpPr>
        <p:spPr>
          <a:xfrm>
            <a:off x="777240" y="1965960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5" name="Google Shape;375;p18"/>
          <p:cNvSpPr txBox="1"/>
          <p:nvPr/>
        </p:nvSpPr>
        <p:spPr>
          <a:xfrm>
            <a:off x="777240" y="2167128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Gama, J. et al. A survey on concept drift adaptation. ACM Computing Surveys, 2014.</a:t>
            </a:r>
            <a:endParaRPr/>
          </a:p>
        </p:txBody>
      </p:sp>
      <p:cxnSp>
        <p:nvCxnSpPr>
          <p:cNvPr id="376" name="Google Shape;376;p18"/>
          <p:cNvCxnSpPr/>
          <p:nvPr/>
        </p:nvCxnSpPr>
        <p:spPr>
          <a:xfrm>
            <a:off x="777240" y="2624328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7" name="Google Shape;377;p18"/>
          <p:cNvSpPr txBox="1"/>
          <p:nvPr/>
        </p:nvSpPr>
        <p:spPr>
          <a:xfrm>
            <a:off x="777240" y="2825496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Bifet, A.; Gavaldà, R. Learning from time-changing data with adaptive windowing (ADWIN). SDM, 2007.</a:t>
            </a:r>
            <a:endParaRPr/>
          </a:p>
        </p:txBody>
      </p:sp>
      <p:cxnSp>
        <p:nvCxnSpPr>
          <p:cNvPr id="378" name="Google Shape;378;p18"/>
          <p:cNvCxnSpPr/>
          <p:nvPr/>
        </p:nvCxnSpPr>
        <p:spPr>
          <a:xfrm>
            <a:off x="777240" y="3282696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379" name="Google Shape;379;p18"/>
          <p:cNvSpPr txBox="1"/>
          <p:nvPr/>
        </p:nvSpPr>
        <p:spPr>
          <a:xfrm>
            <a:off x="777240" y="3483864"/>
            <a:ext cx="76352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5A5852"/>
                </a:solidFill>
                <a:latin typeface="Google Sans"/>
                <a:ea typeface="Google Sans"/>
                <a:cs typeface="Google Sans"/>
                <a:sym typeface="Google Sans"/>
              </a:rPr>
              <a:t>Kanamori, T.; Hido, S.; Sugiyama, M. A least-squares approach to direct importance estimation (LSIF). JMLR, 2009.</a:t>
            </a:r>
            <a:endParaRPr/>
          </a:p>
        </p:txBody>
      </p:sp>
      <p:cxnSp>
        <p:nvCxnSpPr>
          <p:cNvPr id="380" name="Google Shape;380;p18"/>
          <p:cNvCxnSpPr/>
          <p:nvPr/>
        </p:nvCxnSpPr>
        <p:spPr>
          <a:xfrm>
            <a:off x="777240" y="3941064"/>
            <a:ext cx="7589520" cy="0"/>
          </a:xfrm>
          <a:prstGeom prst="straightConnector1">
            <a:avLst/>
          </a:prstGeom>
          <a:noFill/>
          <a:ln cap="flat" cmpd="sng" w="9525">
            <a:solidFill>
              <a:srgbClr val="D7D4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pic>
        <p:nvPicPr>
          <p:cNvPr descr="image.png" id="381" name="Google Shape;38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040" y="4727448"/>
            <a:ext cx="348725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2" name="Google Shape;382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3947" y="4718323"/>
            <a:ext cx="428378" cy="1463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3" name="Google Shape;383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1966" y="4718323"/>
            <a:ext cx="146305" cy="1463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89" name="Google Shape;38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15145" y="1143000"/>
            <a:ext cx="1198741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0" name="Google Shape;390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35725" y="1143000"/>
            <a:ext cx="1472550" cy="5029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1" name="Google Shape;391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03829" y="1143000"/>
            <a:ext cx="502920" cy="502920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19"/>
          <p:cNvSpPr txBox="1"/>
          <p:nvPr/>
        </p:nvSpPr>
        <p:spPr>
          <a:xfrm>
            <a:off x="914400" y="242316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0E0D0B"/>
                </a:solidFill>
                <a:latin typeface="Google Sans"/>
                <a:ea typeface="Google Sans"/>
                <a:cs typeface="Google Sans"/>
                <a:sym typeface="Google Sans"/>
              </a:rPr>
              <a:t>Obrigado!</a:t>
            </a:r>
            <a:endParaRPr/>
          </a:p>
        </p:txBody>
      </p:sp>
      <p:sp>
        <p:nvSpPr>
          <p:cNvPr id="393" name="Google Shape;393;p19"/>
          <p:cNvSpPr txBox="1"/>
          <p:nvPr/>
        </p:nvSpPr>
        <p:spPr>
          <a:xfrm>
            <a:off x="914400" y="310896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8D0DE3"/>
                </a:solidFill>
                <a:latin typeface="Google Sans"/>
                <a:ea typeface="Google Sans"/>
                <a:cs typeface="Google Sans"/>
                <a:sym typeface="Google Sans"/>
              </a:rPr>
              <a:t>Perguntas e discussão</a:t>
            </a:r>
            <a:endParaRPr/>
          </a:p>
        </p:txBody>
      </p:sp>
      <p:sp>
        <p:nvSpPr>
          <p:cNvPr id="394" name="Google Shape;394;p19"/>
          <p:cNvSpPr/>
          <p:nvPr/>
        </p:nvSpPr>
        <p:spPr>
          <a:xfrm>
            <a:off x="3977639" y="3886200"/>
            <a:ext cx="1188720" cy="50292"/>
          </a:xfrm>
          <a:prstGeom prst="roundRect">
            <a:avLst>
              <a:gd fmla="val 8000" name="adj"/>
            </a:avLst>
          </a:prstGeom>
          <a:solidFill>
            <a:srgbClr val="8D0DE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TextBox 394"/>
          <p:cNvSpPr txBox="1"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D0DE3"/>
                </a:solidFill>
                <a:latin typeface="Google Sans"/>
                <a:hlinkClick r:id="rId6"/>
              </a:rPr>
              <a:t>github.com/IvanYamasaki/trajectory-prediction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