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Google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GoogleSans-bold.fntdata"/><Relationship Id="rId23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-boldItalic.fntdata"/><Relationship Id="rId25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0" y="1143000"/>
            <a:ext cx="119874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" name="Google Shape;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9075" y="1143000"/>
            <a:ext cx="147255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" name="Google Shape;1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79" y="1143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/>
        </p:nvSpPr>
        <p:spPr>
          <a:xfrm>
            <a:off x="960120" y="2148840"/>
            <a:ext cx="7223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Data Drift em um modelo Seq2Seq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para predição de trajetórias na RoboCup SSL</a:t>
            </a:r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1325880" y="3154680"/>
            <a:ext cx="649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Ivan G. Yamasaki · Orientadores: Prof. Dr. Marcos R. O. A. Máximo / Prof. </a:t>
            </a:r>
            <a:r>
              <a:rPr lang="en-US" sz="105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Dr, </a:t>
            </a: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Paulo </a:t>
            </a:r>
            <a:r>
              <a:rPr lang="en-US" sz="105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M. </a:t>
            </a: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Tasinaffo </a:t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1325880" y="3511296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Instituto Tecnológico de Aeronáutica · Julho de 2026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977639" y="4069080"/>
            <a:ext cx="1188720" cy="50292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Introdução e motivação</a:t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502920" y="850392"/>
            <a:ext cx="804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Predição mais precisa hoje; </a:t>
            </a:r>
            <a:r>
              <a:rPr lang="en-US" sz="10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estratégias </a:t>
            </a: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da liga </a:t>
            </a:r>
            <a:r>
              <a:rPr lang="en-US" sz="10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melhores </a:t>
            </a: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amanhã</a:t>
            </a:r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" name="Google Shape;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" name="Google Shape;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02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75" y="1397521"/>
            <a:ext cx="3291600" cy="8808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04666" y="1464734"/>
            <a:ext cx="63900" cy="732000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154746" y="1564232"/>
            <a:ext cx="25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CONTEXTO</a:t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010900" y="1808447"/>
            <a:ext cx="27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 predição de trajetórias apoia decisões em tempo real na Small Size League.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0075" y="2421446"/>
            <a:ext cx="3291600" cy="8808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04666" y="2488659"/>
            <a:ext cx="63900" cy="732000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154746" y="2562310"/>
            <a:ext cx="25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LACUNA</a:t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1010900" y="2806537"/>
            <a:ext cx="292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Um modelo treinado em uma temporada pode degradar silenciosamente em ligas futuras.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63" y="3441971"/>
            <a:ext cx="3291600" cy="8808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04654" y="3509184"/>
            <a:ext cx="63900" cy="732000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154733" y="3600066"/>
            <a:ext cx="25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00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OBJETIVO</a:t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1010887" y="3844293"/>
            <a:ext cx="292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Medir o drift, explicar sua origem e definir como adaptar e quando retreinar.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2" name="Google Shape;42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1" y="1399221"/>
            <a:ext cx="3451638" cy="29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Perguntas do estudo</a:t>
            </a:r>
            <a:endParaRPr/>
          </a:p>
        </p:txBody>
      </p:sp>
      <p:sp>
        <p:nvSpPr>
          <p:cNvPr id="49" name="Google Shape;49;p5"/>
          <p:cNvSpPr txBox="1"/>
          <p:nvPr/>
        </p:nvSpPr>
        <p:spPr>
          <a:xfrm>
            <a:off x="502920" y="850392"/>
            <a:ext cx="804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Uma avaliação temporal do preditor seq2seq </a:t>
            </a:r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" name="Google Shape;51;p5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03</a:t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85800" y="1691640"/>
            <a:ext cx="242316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50392" y="1892808"/>
            <a:ext cx="64008" cy="165506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1069848" y="1892808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Quanto?</a:t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1069848" y="2249424"/>
            <a:ext cx="18744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Como a ADE muda entre 2019 e 2025?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383280" y="1691640"/>
            <a:ext cx="242316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547872" y="1892808"/>
            <a:ext cx="64008" cy="165506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3767328" y="1892808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Por quê?</a:t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3767328" y="2249424"/>
            <a:ext cx="1874519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Que parte vem de covariate shift e quais variáveis o explicam?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080760" y="1691640"/>
            <a:ext cx="242316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245352" y="1892808"/>
            <a:ext cx="64008" cy="165506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6464808" y="1892808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 que fazer?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6464808" y="2249424"/>
            <a:ext cx="1874519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Como adaptar sem esquecer e como sinalizar o momento de retreinar?</a:t>
            </a:r>
            <a:endParaRPr/>
          </a:p>
        </p:txBody>
      </p:sp>
      <p:pic>
        <p:nvPicPr>
          <p:cNvPr descr="image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" name="Google Shape;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" name="Google Shape;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Dados e protocolo</a:t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Logs oficiais dos mundiais da RoboCup SSL</a:t>
            </a:r>
            <a:endParaRPr/>
          </a:p>
        </p:txBody>
      </p:sp>
      <p:cxnSp>
        <p:nvCxnSpPr>
          <p:cNvPr id="74" name="Google Shape;74;p6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5" name="Google Shape;75;p6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04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594360" y="1691640"/>
            <a:ext cx="2423160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6"/>
          <p:cNvCxnSpPr/>
          <p:nvPr/>
        </p:nvCxnSpPr>
        <p:spPr>
          <a:xfrm>
            <a:off x="594360" y="1691640"/>
            <a:ext cx="2423160" cy="0"/>
          </a:xfrm>
          <a:prstGeom prst="straightConnector1">
            <a:avLst/>
          </a:prstGeom>
          <a:noFill/>
          <a:ln cap="flat" cmpd="sng" w="30475">
            <a:solidFill>
              <a:srgbClr val="8D0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8" name="Google Shape;78;p6"/>
          <p:cNvSpPr txBox="1"/>
          <p:nvPr/>
        </p:nvSpPr>
        <p:spPr>
          <a:xfrm>
            <a:off x="822960" y="19659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1 · Base</a:t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822960" y="2487168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Logs oficiais 2019–2025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6 jogos da Divisão A por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mundial · 36 no total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2020 não teve competição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383279" y="1691640"/>
            <a:ext cx="2423160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6"/>
          <p:cNvCxnSpPr/>
          <p:nvPr/>
        </p:nvCxnSpPr>
        <p:spPr>
          <a:xfrm>
            <a:off x="3383279" y="1691640"/>
            <a:ext cx="2423161" cy="0"/>
          </a:xfrm>
          <a:prstGeom prst="straightConnector1">
            <a:avLst/>
          </a:prstGeom>
          <a:noFill/>
          <a:ln cap="flat" cmpd="sng" w="30475">
            <a:solidFill>
              <a:srgbClr val="8D0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2" name="Google Shape;82;p6"/>
          <p:cNvSpPr txBox="1"/>
          <p:nvPr/>
        </p:nvSpPr>
        <p:spPr>
          <a:xfrm>
            <a:off x="3611879" y="19659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2 · Stream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3611879" y="2487168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8 mil janelas/jogo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288 mil trajetórias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ordem temporal preservada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172200" y="1691640"/>
            <a:ext cx="2423160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6"/>
          <p:cNvCxnSpPr/>
          <p:nvPr/>
        </p:nvCxnSpPr>
        <p:spPr>
          <a:xfrm>
            <a:off x="6172200" y="1691640"/>
            <a:ext cx="2423160" cy="0"/>
          </a:xfrm>
          <a:prstGeom prst="straightConnector1">
            <a:avLst/>
          </a:prstGeom>
          <a:noFill/>
          <a:ln cap="flat" cmpd="sng" w="30475">
            <a:solidFill>
              <a:srgbClr val="8D0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6" name="Google Shape;86;p6"/>
          <p:cNvSpPr txBox="1"/>
          <p:nvPr/>
        </p:nvSpPr>
        <p:spPr>
          <a:xfrm>
            <a:off x="6400800" y="19659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3 · Avaliação</a:t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6400800" y="2487168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ADE em milímetros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horizontes 30→15 e 60→30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2019 = referência</a:t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685800" y="409651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O baseline usa os seis jogos de 2019: com apenas um jogo, a ADE varia de 4,53 a 6,20 mm.</a:t>
            </a:r>
            <a:endParaRPr/>
          </a:p>
        </p:txBody>
      </p:sp>
      <p:pic>
        <p:nvPicPr>
          <p:cNvPr descr="image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Modelo e baseline</a:t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Comparação limpa entre um modelo aprendido e um comparador cinemático fixo</a:t>
            </a:r>
            <a:endParaRPr/>
          </a:p>
        </p:txBody>
      </p:sp>
      <p:cxnSp>
        <p:nvCxnSpPr>
          <p:cNvPr id="99" name="Google Shape;99;p7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0" name="Google Shape;100;p7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05</a:t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40080" y="1737360"/>
            <a:ext cx="2331720" cy="1874519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841247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Entrada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841247" y="2487168"/>
            <a:ext cx="1920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[x, y, vx, vy, sin ψ, cos ψ]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ψ = orientação do robô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30 / 60 passos observados</a:t>
            </a:r>
            <a:endParaRPr/>
          </a:p>
        </p:txBody>
      </p:sp>
      <p:sp>
        <p:nvSpPr>
          <p:cNvPr id="104" name="Google Shape;104;p7"/>
          <p:cNvSpPr txBox="1"/>
          <p:nvPr/>
        </p:nvSpPr>
        <p:spPr>
          <a:xfrm>
            <a:off x="2999232" y="25328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→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383280" y="1737360"/>
            <a:ext cx="2331720" cy="1874519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3584448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Seq2Seq</a:t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3584448" y="248716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Encoder LSTM (128)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atenção aditiva (Bahdanau et al.)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decoder auto-regressivo</a:t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5742432" y="25328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→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126480" y="1737360"/>
            <a:ext cx="2331720" cy="1874519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6327648" y="20116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Saída</a:t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6327648" y="2487168"/>
            <a:ext cx="192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15 / 30 posições futuras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ADE como métrica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baseline: filtro de Kalman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de velocidade constante</a:t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1234440" y="4069080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O modelo prevê velocidades incrementais; por isso é diretamente sensível a mudanças cinemáticas.</a:t>
            </a:r>
            <a:endParaRPr/>
          </a:p>
        </p:txBody>
      </p:sp>
      <p:pic>
        <p:nvPicPr>
          <p:cNvPr descr="image.png" id="113" name="Google Shape;1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Resultado 1 — o drift é real</a:t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 perda de precisão cresce ao se afastar da temporada de treino</a:t>
            </a:r>
            <a:endParaRPr/>
          </a:p>
        </p:txBody>
      </p:sp>
      <p:cxnSp>
        <p:nvCxnSpPr>
          <p:cNvPr id="123" name="Google Shape;123;p8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4" name="Google Shape;124;p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06</a:t>
            </a:r>
            <a:endParaRPr/>
          </a:p>
        </p:txBody>
      </p:sp>
      <p:pic>
        <p:nvPicPr>
          <p:cNvPr descr="_fig_degradacao_pt.png" id="125" name="Google Shape;1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81328"/>
            <a:ext cx="777240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 txBox="1"/>
          <p:nvPr/>
        </p:nvSpPr>
        <p:spPr>
          <a:xfrm>
            <a:off x="777240" y="4279392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São dois efeitos separados: o salto de 2021 (torneio em simulação) e a tendência gradual de 2022 a 2025, ambos medidos contra 2019.</a:t>
            </a:r>
            <a:endParaRPr/>
          </a:p>
        </p:txBody>
      </p:sp>
      <p:pic>
        <p:nvPicPr>
          <p:cNvPr descr="image.png" id="127" name="Google Shape;1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Resultado 2 — a aceleração lidera a mudança</a:t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 cauda cinemática explica onde o novo regime entra</a:t>
            </a:r>
            <a:endParaRPr/>
          </a:p>
        </p:txBody>
      </p:sp>
      <p:cxnSp>
        <p:nvCxnSpPr>
          <p:cNvPr id="137" name="Google Shape;137;p9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8" name="Google Shape;138;p9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07</a:t>
            </a:r>
            <a:endParaRPr/>
          </a:p>
        </p:txBody>
      </p:sp>
      <p:pic>
        <p:nvPicPr>
          <p:cNvPr descr="_fig_drift_cinematico_pt.png"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481328"/>
            <a:ext cx="7863840" cy="2542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 txBox="1"/>
          <p:nvPr/>
        </p:nvSpPr>
        <p:spPr>
          <a:xfrm>
            <a:off x="685800" y="427024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KS e Wasserstein se afastam da base 2019; accel_p99 se associa ao aumento da ADE por jogo.</a:t>
            </a:r>
            <a:endParaRPr/>
          </a:p>
        </p:txBody>
      </p:sp>
      <p:pic>
        <p:nvPicPr>
          <p:cNvPr descr="image.png" id="141" name="Google Shape;1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Resultado 3 — predominância de covariate shift</a:t>
            </a: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502920" y="850392"/>
            <a:ext cx="804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Reponderar exemplos de 2019 com LSIF recupera a maior parte do excesso de erro</a:t>
            </a:r>
            <a:endParaRPr/>
          </a:p>
        </p:txBody>
      </p:sp>
      <p:cxnSp>
        <p:nvCxnSpPr>
          <p:cNvPr id="151" name="Google Shape;151;p10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2" name="Google Shape;152;p10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08</a:t>
            </a:r>
            <a:endParaRPr/>
          </a:p>
        </p:txBody>
      </p:sp>
      <p:pic>
        <p:nvPicPr>
          <p:cNvPr descr="_fig_iw_pt.png"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554480"/>
            <a:ext cx="704088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 txBox="1"/>
          <p:nvPr/>
        </p:nvSpPr>
        <p:spPr>
          <a:xfrm>
            <a:off x="731520" y="4434840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3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LSIF atribui 59–72% do excesso a covariate shift; classificador independente confirma mudança em todas as temporadas.</a:t>
            </a:r>
            <a:endParaRPr/>
          </a:p>
        </p:txBody>
      </p:sp>
      <p:pic>
        <p:nvPicPr>
          <p:cNvPr descr="image.png"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Adaptação ao drift</a:t>
            </a:r>
            <a:endParaRPr/>
          </a:p>
        </p:txBody>
      </p:sp>
      <p:sp>
        <p:nvSpPr>
          <p:cNvPr id="164" name="Google Shape;164;p11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 objetivo é recuperar o regime novo sem perder desempenho no regime antigo</a:t>
            </a:r>
            <a:endParaRPr/>
          </a:p>
        </p:txBody>
      </p:sp>
      <p:cxnSp>
        <p:nvCxnSpPr>
          <p:cNvPr id="165" name="Google Shape;165;p11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6" name="Google Shape;166;p11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09</a:t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85800" y="1554480"/>
            <a:ext cx="246888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850392" y="175564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1069848" y="17556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PROTOCOLO COMUM</a:t>
            </a:r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1069848" y="2112264"/>
            <a:ext cx="192024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Regime antigo: 2019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Dados novos: 2022–2025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500 trajetórias por jogo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2021 excluído (torneio em simulação)</a:t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3337560" y="1554480"/>
            <a:ext cx="246888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3502152" y="175564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3721608" y="17556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ATUALIZAÇÃO LEVE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3721608" y="2112264"/>
            <a:ext cx="192024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Encoder congelado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 camadas do decoder treináveis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taxa 10⁻⁵ · 5 épocas</a:t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5989320" y="1554480"/>
            <a:ext cx="246888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153912" y="175564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6373368" y="17556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CRITÉRIO</a:t>
            </a:r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6373368" y="2112264"/>
            <a:ext cx="192024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cat_ratio = fração das trajetórias antigas que pioram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Menor é melhor: mede esquecimento catastrófico</a:t>
            </a:r>
            <a:endParaRPr/>
          </a:p>
        </p:txBody>
      </p:sp>
      <p:pic>
        <p:nvPicPr>
          <p:cNvPr descr="image.png"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Resultado 4 — replay ponderado é a melhor resposta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Restringir a adaptação ao recorte mais extremo da aceleração piora o esquecimento</a:t>
            </a:r>
            <a:endParaRPr/>
          </a:p>
        </p:txBody>
      </p:sp>
      <p:cxnSp>
        <p:nvCxnSpPr>
          <p:cNvPr id="189" name="Google Shape;189;p12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0" name="Google Shape;190;p12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10</a:t>
            </a:r>
            <a:endParaRPr/>
          </a:p>
        </p:txBody>
      </p:sp>
      <p:pic>
        <p:nvPicPr>
          <p:cNvPr descr="_fig_finetune_pt.png"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81328"/>
            <a:ext cx="7955279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2"/>
          <p:cNvSpPr txBox="1"/>
          <p:nvPr/>
        </p:nvSpPr>
        <p:spPr>
          <a:xfrm>
            <a:off x="685800" y="422452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4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Fine-tuning leve reduz cat_ratio de 0,82 para ~0,46. Replay ponderado por importance weighting atinge o menor valor (0,417); EWC é inerte.</a:t>
            </a:r>
            <a:endParaRPr/>
          </a:p>
        </p:txBody>
      </p:sp>
      <p:pic>
        <p:nvPicPr>
          <p:cNvPr descr="image.png" id="193" name="Google Shape;19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Detecção online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502920" y="850392"/>
            <a:ext cx="804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Do diagnóstico estatístico do ADWIN / KSWIN à decisão operacional de retreinar</a:t>
            </a:r>
            <a:endParaRPr/>
          </a:p>
        </p:txBody>
      </p:sp>
      <p:cxnSp>
        <p:nvCxnSpPr>
          <p:cNvPr id="203" name="Google Shape;203;p13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4" name="Google Shape;204;p13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11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594360" y="1737360"/>
            <a:ext cx="246888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822960" y="199339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01  Sinal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822960" y="2523744"/>
            <a:ext cx="19385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ADE por trajetória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normalizada localmente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mediana + MAD (w=200)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3116562" y="2578608"/>
            <a:ext cx="292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→</a:t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3429000" y="1737360"/>
            <a:ext cx="246888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3657600" y="199339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02  Calibração</a:t>
            </a:r>
            <a:endParaRPr/>
          </a:p>
        </p:txBody>
      </p:sp>
      <p:sp>
        <p:nvSpPr>
          <p:cNvPr id="211" name="Google Shape;211;p13"/>
          <p:cNvSpPr txBox="1"/>
          <p:nvPr/>
        </p:nvSpPr>
        <p:spPr>
          <a:xfrm>
            <a:off x="3657600" y="2523744"/>
            <a:ext cx="19385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ADWIN em grade de 96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2-fold por jogos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seleção e teste separados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5951202" y="2578608"/>
            <a:ext cx="292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→</a:t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6263640" y="1737360"/>
            <a:ext cx="2468880" cy="20574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6492240" y="199339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03  Ação</a:t>
            </a:r>
            <a:endParaRPr/>
          </a:p>
        </p:txBody>
      </p:sp>
      <p:sp>
        <p:nvSpPr>
          <p:cNvPr id="215" name="Google Shape;215;p13"/>
          <p:cNvSpPr txBox="1"/>
          <p:nvPr/>
        </p:nvSpPr>
        <p:spPr>
          <a:xfrm>
            <a:off x="6492240" y="2523744"/>
            <a:ext cx="19385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alarme primário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→ retreinar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camadas auxiliares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→ monitorar e confirmar</a:t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1005840" y="4178808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Pergunta operacional: o sinal é confiável o bastante para disparar retreinamento?</a:t>
            </a:r>
            <a:endParaRPr/>
          </a:p>
        </p:txBody>
      </p:sp>
      <p:pic>
        <p:nvPicPr>
          <p:cNvPr descr="image.png" id="217" name="Google Shape;2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Arquitetura de detecção em camadas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Baseada exclusivamente no protocolo e nos resultados do artigo</a:t>
            </a:r>
            <a:endParaRPr/>
          </a:p>
        </p:txBody>
      </p:sp>
      <p:cxnSp>
        <p:nvCxnSpPr>
          <p:cNvPr id="227" name="Google Shape;227;p14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8" name="Google Shape;228;p14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12</a:t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640080" y="1554480"/>
            <a:ext cx="123444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713231" y="1673352"/>
            <a:ext cx="10881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Camada</a:t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1920240" y="1554480"/>
            <a:ext cx="214884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1993392" y="1673352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Sinal</a:t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4160520" y="1554480"/>
            <a:ext cx="150876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 txBox="1"/>
          <p:nvPr/>
        </p:nvSpPr>
        <p:spPr>
          <a:xfrm>
            <a:off x="4233672" y="1673352"/>
            <a:ext cx="13624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FAR / 1k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(A / B)</a:t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5852160" y="1554480"/>
            <a:ext cx="123444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5925312" y="1673352"/>
            <a:ext cx="10881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Cobertura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(A / B)</a:t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7178040" y="1554480"/>
            <a:ext cx="1188720" cy="566928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7251192" y="1673352"/>
            <a:ext cx="10424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Ação</a:t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640080" y="2212848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694944" y="2322576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Primária</a:t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1920240" y="2212848"/>
            <a:ext cx="21488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1975104" y="2322576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ADE seq2seq</a:t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4160520" y="2212848"/>
            <a:ext cx="150876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4215383" y="2322576"/>
            <a:ext cx="13990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0,042 / 0,125</a:t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5852160" y="2212848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5907024" y="2322576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5/5 · 4/5</a:t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7178040" y="2212848"/>
            <a:ext cx="118872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7232903" y="232257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retreinar</a:t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640080" y="2697480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694944" y="2807208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Vigilância</a:t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1920240" y="2697480"/>
            <a:ext cx="21488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1975104" y="2807208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accel_p95</a:t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4160520" y="2697480"/>
            <a:ext cx="150876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4215383" y="2807208"/>
            <a:ext cx="13990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0,292 / 0,250</a:t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5852160" y="2697480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5907024" y="2807208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5/5 · 5/5</a:t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7178040" y="2697480"/>
            <a:ext cx="118872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7232903" y="2807208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monitorar</a:t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640080" y="3182112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694944" y="3291840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Confirmação</a:t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1920240" y="3182112"/>
            <a:ext cx="21488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1975104" y="3291840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AND(ADE, accel)</a:t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4160520" y="3182112"/>
            <a:ext cx="150876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4215383" y="3291840"/>
            <a:ext cx="13990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0,000 / 0,000</a:t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5852160" y="3182112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5907024" y="3291840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3/5 · 2/5</a:t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7178040" y="3182112"/>
            <a:ext cx="1188720" cy="438912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7232903" y="3291840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confirmar</a:t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640080" y="3666744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694944" y="3776472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Corroboração</a:t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1920240" y="3666744"/>
            <a:ext cx="21488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1975104" y="3776472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ADE do filtro de Kalman</a:t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4160520" y="3666744"/>
            <a:ext cx="150876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4215383" y="3776472"/>
            <a:ext cx="13990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0,167 / 0,083</a:t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5852160" y="3666744"/>
            <a:ext cx="123444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5907024" y="3776472"/>
            <a:ext cx="11247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5/5 · 5/5</a:t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7178040" y="3666744"/>
            <a:ext cx="1188720" cy="43891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7232903" y="3776472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redundância</a:t>
            </a: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685800" y="4434840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19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Resultados fora da amostra. A camada de aceleração antecipa a de erro em 8 de 10 folds anuais.</a:t>
            </a:r>
            <a:endParaRPr/>
          </a:p>
        </p:txBody>
      </p:sp>
      <p:pic>
        <p:nvPicPr>
          <p:cNvPr descr="image.png" id="280" name="Google Shape;2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Resultado 5 — detector primário confiável</a:t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ADWIN sobre o erro normalizado alcança baixa taxa de alarmes fora da amostra</a:t>
            </a:r>
            <a:endParaRPr/>
          </a:p>
        </p:txBody>
      </p:sp>
      <p:cxnSp>
        <p:nvCxnSpPr>
          <p:cNvPr id="290" name="Google Shape;290;p15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1" name="Google Shape;291;p15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13</a:t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640080" y="1417320"/>
            <a:ext cx="2487168" cy="16002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822959" y="1636776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0,042 – 0,125</a:t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822959" y="2185416"/>
            <a:ext cx="21214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POR MIL TRAJETÓRIAS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822959" y="2386584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falsos alarmes em 2019, nos folds A e 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(teto de admissibilidade: 0,20)</a:t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3328416" y="1417320"/>
            <a:ext cx="2487168" cy="16002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3511296" y="1636776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9 / 10</a:t>
            </a:r>
            <a:endParaRPr/>
          </a:p>
        </p:txBody>
      </p:sp>
      <p:sp>
        <p:nvSpPr>
          <p:cNvPr id="298" name="Google Shape;298;p15"/>
          <p:cNvSpPr txBox="1"/>
          <p:nvPr/>
        </p:nvSpPr>
        <p:spPr>
          <a:xfrm>
            <a:off x="3511296" y="2185416"/>
            <a:ext cx="21214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COBERTURA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3511296" y="2386584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ano-folds com pelo menos um alarme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na temporada em que houve drift</a:t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6016752" y="1417320"/>
            <a:ext cx="2487168" cy="160020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6199632" y="1636776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0,2 – 1,5</a:t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6199632" y="2185416"/>
            <a:ext cx="21214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JOGOS DE LATÊNCIA</a:t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6199632" y="2386584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até o primeiro alarme depois da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virada de cada temporada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640080" y="3200400"/>
            <a:ext cx="3840480" cy="123444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804671" y="3401568"/>
            <a:ext cx="64008" cy="83210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1024127" y="340156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SEM NORMALIZAÇÃO NÃO HÁ DETECTOR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1024127" y="3758184"/>
            <a:ext cx="32918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Nenhuma das 96 configurações é admissível no sinal bruto, e os 21 suavizadores testados pioram o FAR.</a:t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4663440" y="3200400"/>
            <a:ext cx="3840480" cy="123444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4828031" y="3401568"/>
            <a:ext cx="64008" cy="83210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5047488" y="340156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SEM HOLDOUT, OUTRA ESCOLHA</a:t>
            </a:r>
            <a:endParaRPr/>
          </a:p>
        </p:txBody>
      </p:sp>
      <p:sp>
        <p:nvSpPr>
          <p:cNvPr id="311" name="Google Shape;311;p15"/>
          <p:cNvSpPr txBox="1"/>
          <p:nvPr/>
        </p:nvSpPr>
        <p:spPr>
          <a:xfrm>
            <a:off x="5047488" y="3758184"/>
            <a:ext cx="32918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 configuração vencedora dentro da amostra mantém FAR ≈ 0 e cobre só 2–3 de 5 temporadas fora dela.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731520" y="45079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3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Todos os números são fora da amostra: a calibração usa metade dos jogos de cada ano e a outra metade é avaliada uma única vez.</a:t>
            </a:r>
            <a:endParaRPr/>
          </a:p>
        </p:txBody>
      </p:sp>
      <p:pic>
        <p:nvPicPr>
          <p:cNvPr descr="image.png" id="313" name="Google Shape;3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Conclusões</a:t>
            </a:r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 que o estudo entrega</a:t>
            </a:r>
            <a:endParaRPr/>
          </a:p>
        </p:txBody>
      </p:sp>
      <p:cxnSp>
        <p:nvCxnSpPr>
          <p:cNvPr id="323" name="Google Shape;323;p16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4" name="Google Shape;324;p16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14</a:t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640080" y="1508760"/>
            <a:ext cx="2487168" cy="256032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804671" y="1709928"/>
            <a:ext cx="64008" cy="215798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1024127" y="1709928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MEDIR</a:t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1024127" y="2066543"/>
            <a:ext cx="1938528" cy="1847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Drift persistente após o treino. O baseline do filtro de Kalman piora ainda mais, porque os robôs se afastam do modelo de velocidade constante.</a:t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3328416" y="1508760"/>
            <a:ext cx="2487168" cy="256032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493008" y="1709928"/>
            <a:ext cx="64008" cy="215798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3712464" y="1709928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EXPLICAR</a:t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3712464" y="2066543"/>
            <a:ext cx="1938528" cy="1847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59–72% do excesso é covariate shift, com aceleração na cauda como vetor dominante.</a:t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6016752" y="1508760"/>
            <a:ext cx="2487168" cy="256032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6181344" y="1709928"/>
            <a:ext cx="64008" cy="215798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6400800" y="1709928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AGIR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6400800" y="2066543"/>
            <a:ext cx="1938528" cy="1847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Replay ponderado reduz esquecimento; ADWIN normalizado fornece gatilho mensurável para retreinamento.</a:t>
            </a:r>
            <a:endParaRPr/>
          </a:p>
        </p:txBody>
      </p:sp>
      <p:pic>
        <p:nvPicPr>
          <p:cNvPr descr="image.png" id="337" name="Google Shape;3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Limitações e próximos passos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Onde as conclusões devem ser interpretadas com cuidado</a:t>
            </a:r>
            <a:endParaRPr/>
          </a:p>
        </p:txBody>
      </p:sp>
      <p:cxnSp>
        <p:nvCxnSpPr>
          <p:cNvPr id="347" name="Google Shape;347;p17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8" name="Google Shape;348;p17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15</a:t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40080" y="1508760"/>
            <a:ext cx="251460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804671" y="170992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1024127" y="170992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LIMITAÇÕES</a:t>
            </a: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1024127" y="2066543"/>
            <a:ext cx="19659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2021 mistura o gap entre simulação e realidade com o drift sazonal.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Só a Divisão A e seis jogos por temporada.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ADE é uma métrica single-mode.</a:t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3310128" y="1508760"/>
            <a:ext cx="251460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3474720" y="170992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3694176" y="170992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CUIDADO OPERACIONAL</a:t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3694176" y="2066543"/>
            <a:ext cx="19659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Normalização robusta pressupõe drift gradual.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Há autocorrelação entre trajetórias.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 fração residual de concept drift não foi isolada por variável.</a:t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5980176" y="1508760"/>
            <a:ext cx="2514600" cy="2423160"/>
          </a:xfrm>
          <a:prstGeom prst="roundRect">
            <a:avLst>
              <a:gd fmla="val 8000" name="adj"/>
            </a:avLst>
          </a:prstGeom>
          <a:solidFill>
            <a:srgbClr val="F7F5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6144768" y="1709928"/>
            <a:ext cx="64008" cy="2020824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6364224" y="170992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PRÓXIMOS PASSOS</a:t>
            </a:r>
            <a:endParaRPr/>
          </a:p>
        </p:txBody>
      </p:sp>
      <p:sp>
        <p:nvSpPr>
          <p:cNvPr id="360" name="Google Shape;360;p17"/>
          <p:cNvSpPr txBox="1"/>
          <p:nvPr/>
        </p:nvSpPr>
        <p:spPr>
          <a:xfrm>
            <a:off x="6364224" y="2066543"/>
            <a:ext cx="196596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Retreinar o encoder.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Escalar o replay ponderado.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5A585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Avaliar preditores multimodais e mais temporadas.</a:t>
            </a:r>
            <a:endParaRPr/>
          </a:p>
        </p:txBody>
      </p:sp>
      <p:pic>
        <p:nvPicPr>
          <p:cNvPr descr="image.png" id="361" name="Google Shape;3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502920" y="484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Referências essenciais</a:t>
            </a:r>
            <a:endParaRPr/>
          </a:p>
        </p:txBody>
      </p:sp>
      <p:sp>
        <p:nvSpPr>
          <p:cNvPr id="370" name="Google Shape;370;p18"/>
          <p:cNvSpPr txBox="1"/>
          <p:nvPr/>
        </p:nvSpPr>
        <p:spPr>
          <a:xfrm>
            <a:off x="502920" y="8503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Trabalhos que estruturam o modelo, o diagnóstico e a detecção</a:t>
            </a:r>
            <a:endParaRPr/>
          </a:p>
        </p:txBody>
      </p:sp>
      <p:cxnSp>
        <p:nvCxnSpPr>
          <p:cNvPr id="371" name="Google Shape;371;p18"/>
          <p:cNvCxnSpPr/>
          <p:nvPr/>
        </p:nvCxnSpPr>
        <p:spPr>
          <a:xfrm>
            <a:off x="502920" y="11704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2" name="Google Shape;372;p18"/>
          <p:cNvSpPr txBox="1"/>
          <p:nvPr/>
        </p:nvSpPr>
        <p:spPr>
          <a:xfrm>
            <a:off x="8549640" y="46451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E9B92"/>
                </a:solidFill>
                <a:latin typeface="Google Sans"/>
                <a:ea typeface="Google Sans"/>
                <a:cs typeface="Google Sans"/>
                <a:sym typeface="Google Sans"/>
              </a:rPr>
              <a:t>16</a:t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777240" y="1508760"/>
            <a:ext cx="7635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Steuernagel, L.; Máximo, M. R. O. A. Trajectory prediction for SSL robots using seq2seq neural networks. RoboCup 2022, LNCS 13561, Springer, 2023.</a:t>
            </a:r>
            <a:endParaRPr/>
          </a:p>
        </p:txBody>
      </p:sp>
      <p:cxnSp>
        <p:nvCxnSpPr>
          <p:cNvPr id="374" name="Google Shape;374;p18"/>
          <p:cNvCxnSpPr/>
          <p:nvPr/>
        </p:nvCxnSpPr>
        <p:spPr>
          <a:xfrm>
            <a:off x="777240" y="1965960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5" name="Google Shape;375;p18"/>
          <p:cNvSpPr txBox="1"/>
          <p:nvPr/>
        </p:nvSpPr>
        <p:spPr>
          <a:xfrm>
            <a:off x="777240" y="2167128"/>
            <a:ext cx="7635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Gama, J. et al. A survey on concept drift adaptation. ACM Computing Surveys, 2014.</a:t>
            </a:r>
            <a:endParaRPr/>
          </a:p>
        </p:txBody>
      </p:sp>
      <p:cxnSp>
        <p:nvCxnSpPr>
          <p:cNvPr id="376" name="Google Shape;376;p18"/>
          <p:cNvCxnSpPr/>
          <p:nvPr/>
        </p:nvCxnSpPr>
        <p:spPr>
          <a:xfrm>
            <a:off x="777240" y="2624328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7" name="Google Shape;377;p18"/>
          <p:cNvSpPr txBox="1"/>
          <p:nvPr/>
        </p:nvSpPr>
        <p:spPr>
          <a:xfrm>
            <a:off x="777240" y="2825496"/>
            <a:ext cx="7635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Bifet, A.; Gavaldà, R. Learning from time-changing data with adaptive windowing (ADWIN). SDM, 2007.</a:t>
            </a:r>
            <a:endParaRPr/>
          </a:p>
        </p:txBody>
      </p:sp>
      <p:cxnSp>
        <p:nvCxnSpPr>
          <p:cNvPr id="378" name="Google Shape;378;p18"/>
          <p:cNvCxnSpPr/>
          <p:nvPr/>
        </p:nvCxnSpPr>
        <p:spPr>
          <a:xfrm>
            <a:off x="777240" y="3282696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9" name="Google Shape;379;p18"/>
          <p:cNvSpPr txBox="1"/>
          <p:nvPr/>
        </p:nvSpPr>
        <p:spPr>
          <a:xfrm>
            <a:off x="777240" y="3483864"/>
            <a:ext cx="7635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5852"/>
                </a:solidFill>
                <a:latin typeface="Google Sans"/>
                <a:ea typeface="Google Sans"/>
                <a:cs typeface="Google Sans"/>
                <a:sym typeface="Google Sans"/>
              </a:rPr>
              <a:t>Kanamori, T.; Hido, S.; Sugiyama, M. A least-squares approach to direct importance estimation (LSIF). JMLR, 2009.</a:t>
            </a:r>
            <a:endParaRPr/>
          </a:p>
        </p:txBody>
      </p:sp>
      <p:cxnSp>
        <p:nvCxnSpPr>
          <p:cNvPr id="380" name="Google Shape;380;p18"/>
          <p:cNvCxnSpPr/>
          <p:nvPr/>
        </p:nvCxnSpPr>
        <p:spPr>
          <a:xfrm>
            <a:off x="777240" y="3941064"/>
            <a:ext cx="7589520" cy="0"/>
          </a:xfrm>
          <a:prstGeom prst="straightConnector1">
            <a:avLst/>
          </a:prstGeom>
          <a:noFill/>
          <a:ln cap="flat" cmpd="sng" w="9525">
            <a:solidFill>
              <a:srgbClr val="D7D4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81" name="Google Shape;3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4727448"/>
            <a:ext cx="348725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47" y="4718323"/>
            <a:ext cx="428378" cy="146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966" y="4718323"/>
            <a:ext cx="146305" cy="14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9" name="Google Shape;3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145" y="1143000"/>
            <a:ext cx="119874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5725" y="1143000"/>
            <a:ext cx="147255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3829" y="1143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9"/>
          <p:cNvSpPr txBox="1"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E0D0B"/>
                </a:solidFill>
                <a:latin typeface="Google Sans"/>
                <a:ea typeface="Google Sans"/>
                <a:cs typeface="Google Sans"/>
                <a:sym typeface="Google Sans"/>
              </a:rPr>
              <a:t>Obrigado!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D0DE3"/>
                </a:solidFill>
                <a:latin typeface="Google Sans"/>
                <a:ea typeface="Google Sans"/>
                <a:cs typeface="Google Sans"/>
                <a:sym typeface="Google Sans"/>
              </a:rPr>
              <a:t>Perguntas e discussão</a:t>
            </a: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3977639" y="3886200"/>
            <a:ext cx="1188720" cy="50292"/>
          </a:xfrm>
          <a:prstGeom prst="roundRect">
            <a:avLst>
              <a:gd fmla="val 8000" name="adj"/>
            </a:avLst>
          </a:prstGeom>
          <a:solidFill>
            <a:srgbClr val="8D0D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