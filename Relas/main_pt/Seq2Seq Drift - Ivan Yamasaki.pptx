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Google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oogleSans-regular.fntdata"/><Relationship Id="rId14" Type="http://schemas.openxmlformats.org/officeDocument/2006/relationships/slide" Target="slides/slide9.xml"/><Relationship Id="rId17" Type="http://schemas.openxmlformats.org/officeDocument/2006/relationships/font" Target="fonts/GoogleSans-italic.fntdata"/><Relationship Id="rId16" Type="http://schemas.openxmlformats.org/officeDocument/2006/relationships/font" Target="fonts/Google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Google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f5ecac7e9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" name="Google Shape;9;g3f5ecac7e9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5ecac7e91_2_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g3f5ecac7e91_2_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Guia de uso do template — remova antes de apresentar.</a:t>
            </a:r>
            <a:endParaRPr sz="900"/>
          </a:p>
        </p:txBody>
      </p:sp>
      <p:sp>
        <p:nvSpPr>
          <p:cNvPr id="17" name="Google Shape;17;g3f5ecac7e91_2_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f5ecac7e91_2_2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g3f5ecac7e91_2_2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Capa: substitua o título do trabalho, seu nome e o do orientador.</a:t>
            </a:r>
            <a:endParaRPr sz="900"/>
          </a:p>
        </p:txBody>
      </p:sp>
      <p:sp>
        <p:nvSpPr>
          <p:cNvPr id="42" name="Google Shape;42;g3f5ecac7e91_2_2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5ecac7e91_2_3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5ecac7e91_2_3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Página modelo genérica: título + subtítulo + corpo livre.</a:t>
            </a:r>
            <a:endParaRPr sz="900"/>
          </a:p>
        </p:txBody>
      </p:sp>
      <p:sp>
        <p:nvSpPr>
          <p:cNvPr id="55" name="Google Shape;55;g3f5ecac7e91_2_3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5ecac7e91_2_5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f5ecac7e91_2_5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Contextualize o problema e por que ele importa.</a:t>
            </a:r>
            <a:endParaRPr sz="900"/>
          </a:p>
        </p:txBody>
      </p:sp>
      <p:sp>
        <p:nvSpPr>
          <p:cNvPr id="68" name="Google Shape;68;g3f5ecac7e91_2_5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5ecac7e91_2_6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f5ecac7e91_2_6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Explique o caminho, não todos os detalhes técnicos.</a:t>
            </a:r>
            <a:endParaRPr sz="900"/>
          </a:p>
        </p:txBody>
      </p:sp>
      <p:sp>
        <p:nvSpPr>
          <p:cNvPr id="85" name="Google Shape;85;g3f5ecac7e91_2_6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5ecac7e91_2_8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5ecac7e91_2_8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Foco no resultado principal. Um gráfico por slide.</a:t>
            </a:r>
            <a:endParaRPr sz="900"/>
          </a:p>
        </p:txBody>
      </p:sp>
      <p:sp>
        <p:nvSpPr>
          <p:cNvPr id="105" name="Google Shape;105;g3f5ecac7e91_2_8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5ecac7e91_2_9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f5ecac7e91_2_9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Feche com clareza: o que foi feito e o que vem depois.</a:t>
            </a:r>
            <a:endParaRPr sz="900"/>
          </a:p>
        </p:txBody>
      </p:sp>
      <p:sp>
        <p:nvSpPr>
          <p:cNvPr id="120" name="Google Shape;120;g3f5ecac7e91_2_9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5ecac7e91_2_11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f5ecac7e91_2_11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Liste as principais referências.</a:t>
            </a:r>
            <a:endParaRPr sz="900"/>
          </a:p>
        </p:txBody>
      </p:sp>
      <p:sp>
        <p:nvSpPr>
          <p:cNvPr id="137" name="Google Shape;137;g3f5ecac7e91_2_11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/>
        </p:nvSpPr>
        <p:spPr>
          <a:xfrm>
            <a:off x="952500" y="1428750"/>
            <a:ext cx="32385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Instruções</a:t>
            </a:r>
            <a:endParaRPr b="1" sz="1100">
              <a:solidFill>
                <a:srgbClr val="8D0DE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Como usar este template</a:t>
            </a:r>
            <a:endParaRPr b="1" sz="2800">
              <a:solidFill>
                <a:srgbClr val="0E0D0B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Este arquivo é um modelo protegido. Siga as etapas ao lado para começar a criar sua própria apresentação.</a:t>
            </a:r>
            <a:endParaRPr sz="1300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" name="Google Shape;12;p3"/>
          <p:cNvSpPr txBox="1"/>
          <p:nvPr/>
        </p:nvSpPr>
        <p:spPr>
          <a:xfrm>
            <a:off x="4762500" y="1428750"/>
            <a:ext cx="3429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01</a:t>
            </a:r>
            <a:endParaRPr b="1" sz="1600">
              <a:solidFill>
                <a:srgbClr val="8D0DE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Faça uma cópia</a:t>
            </a:r>
            <a:endParaRPr b="1" sz="1400">
              <a:solidFill>
                <a:srgbClr val="0E0D0B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Vá em Arquivo &gt; Fazer uma cópia para salvar este documento n</a:t>
            </a:r>
            <a:r>
              <a:rPr lang="en" sz="1100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o </a:t>
            </a:r>
            <a:r>
              <a:rPr lang="en" sz="1100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Google Drive compartilhado.</a:t>
            </a:r>
            <a:endParaRPr sz="1100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OBS: Não esqueça de colocar o seu nome no arquivo e fique atento se ele está no drive certo.</a:t>
            </a:r>
            <a:endParaRPr sz="1100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" name="Google Shape;13;p3"/>
          <p:cNvSpPr txBox="1"/>
          <p:nvPr/>
        </p:nvSpPr>
        <p:spPr>
          <a:xfrm>
            <a:off x="4762500" y="2667000"/>
            <a:ext cx="3429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80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02</a:t>
            </a:r>
            <a:endParaRPr b="1" sz="1480">
              <a:solidFill>
                <a:srgbClr val="8D0DE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295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Edite o arquivo copiado</a:t>
            </a:r>
            <a:endParaRPr sz="1100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Trabalhe diretamente na sua cópia para editar as informações, inserir seu conteúdo e personalizar os slides.</a:t>
            </a:r>
            <a:endParaRPr sz="1100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FE6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71500" y="457200"/>
            <a:ext cx="15879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ANTES DE COMEÇAR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2110383" y="557213"/>
            <a:ext cx="6462117" cy="4763"/>
          </a:xfrm>
          <a:prstGeom prst="rect">
            <a:avLst/>
          </a:prstGeom>
          <a:solidFill>
            <a:srgbClr val="D7D4C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571500" y="822945"/>
            <a:ext cx="8801100" cy="2723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1846"/>
              </a:lnSpc>
              <a:spcBef>
                <a:spcPts val="0"/>
              </a:spcBef>
              <a:spcAft>
                <a:spcPts val="0"/>
              </a:spcAft>
              <a:buClr>
                <a:srgbClr val="0E0D0B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Dicas de apresentação</a:t>
            </a:r>
            <a:endParaRPr i="0" sz="21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571500" y="1304851"/>
            <a:ext cx="209550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01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838200" y="1304850"/>
            <a:ext cx="3688842" cy="3275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E0D0B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Treine o tempo de apresentação. Sugestão: em média 1 slide por minuto (mas depende muito da apresentação).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71500" y="1727671"/>
            <a:ext cx="209550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02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838200" y="1727672"/>
            <a:ext cx="3688842" cy="32757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E0D0B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Evite muita informação num único slide, slides com muito texto e muitas equações.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71500" y="2150492"/>
            <a:ext cx="209550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03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38200" y="2150492"/>
            <a:ext cx="3688842" cy="3275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E0D0B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Priorize: evite excesso de informação na apresentação como um todo. Foco na proposta e nos resultados.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71500" y="2573313"/>
            <a:ext cx="209550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04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838200" y="2573313"/>
            <a:ext cx="3352718" cy="17331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E0D0B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Treine com alguém antes — um amigo ou seu orientador.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724400" y="1304851"/>
            <a:ext cx="209550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05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991100" y="1304851"/>
            <a:ext cx="1045131" cy="17331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E0D0B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Numere os slides.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724400" y="1573411"/>
            <a:ext cx="209550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06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991100" y="1573411"/>
            <a:ext cx="3688842" cy="3275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E0D0B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Apresentação acadêmica tem tom sério — evite muitas animações.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724400" y="1996231"/>
            <a:ext cx="209550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07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991100" y="1996232"/>
            <a:ext cx="3688842" cy="32757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E0D0B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Enquanto apresenta, use o mouse (ou a mão, se presencial) para indicar o que está falando.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724400" y="2419053"/>
            <a:ext cx="209550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08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991100" y="2419053"/>
            <a:ext cx="3688842" cy="3275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E0D0B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Ferramentas sugeridas: PowerPoint, Google Slides,</a:t>
            </a:r>
            <a:r>
              <a:rPr lang="en" sz="900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 PDF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71500" y="4549155"/>
            <a:ext cx="8801100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9E9B9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E9B92"/>
                </a:solidFill>
                <a:latin typeface="Arial"/>
                <a:ea typeface="Arial"/>
                <a:cs typeface="Arial"/>
                <a:sym typeface="Arial"/>
              </a:rPr>
              <a:t>Este slide é um guia para quem for usar o template — apague-o antes de apresentar.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2840" y="1712640"/>
            <a:ext cx="1248668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4358209" y="1807890"/>
            <a:ext cx="4763" cy="333375"/>
          </a:xfrm>
          <a:prstGeom prst="rect">
            <a:avLst/>
          </a:prstGeom>
          <a:solidFill>
            <a:srgbClr val="D7D4C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6624" y="1774550"/>
            <a:ext cx="1169075" cy="399314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/>
          <p:nvPr/>
        </p:nvSpPr>
        <p:spPr>
          <a:xfrm>
            <a:off x="5677198" y="1807890"/>
            <a:ext cx="4763" cy="333375"/>
          </a:xfrm>
          <a:prstGeom prst="rect">
            <a:avLst/>
          </a:prstGeom>
          <a:solidFill>
            <a:srgbClr val="D7D4C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8660" y="1798365"/>
            <a:ext cx="3524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1087125" y="2693725"/>
            <a:ext cx="7316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95333"/>
              </a:lnSpc>
              <a:spcBef>
                <a:spcPts val="0"/>
              </a:spcBef>
              <a:spcAft>
                <a:spcPts val="0"/>
              </a:spcAft>
              <a:buClr>
                <a:srgbClr val="0E0D0B"/>
              </a:buClr>
              <a:buSzPts val="2000"/>
              <a:buFont typeface="Arial"/>
              <a:buNone/>
            </a:pPr>
            <a:r>
              <a:rPr b="1" i="0" lang="en" sz="22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Título do Trabalho de Iniciação Científica</a:t>
            </a:r>
            <a:endParaRPr i="0" sz="22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2334699" y="3295675"/>
            <a:ext cx="49266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5A5852"/>
              </a:buClr>
              <a:buSzPts val="900"/>
              <a:buFont typeface="Arial"/>
              <a:buNone/>
            </a:pPr>
            <a:r>
              <a:rPr i="0" lang="en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Nome do Aluno · Orientador: Nome do Orientador · Mentor: Nome do Mentor</a:t>
            </a:r>
            <a:endParaRPr i="0" sz="11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039190" y="3694229"/>
            <a:ext cx="36777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9E9B92"/>
              </a:buClr>
              <a:buSzPts val="900"/>
              <a:buFont typeface="Arial"/>
              <a:buNone/>
            </a:pPr>
            <a:r>
              <a:rPr i="0" lang="en" sz="11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Instituto Tecnológico de Aeronáutica · Julho de 2026</a:t>
            </a:r>
            <a:endParaRPr i="0" sz="11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FE6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457200" y="819150"/>
            <a:ext cx="905256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2909"/>
              </a:lnSpc>
              <a:spcBef>
                <a:spcPts val="0"/>
              </a:spcBef>
              <a:spcAft>
                <a:spcPts val="0"/>
              </a:spcAft>
              <a:buClr>
                <a:srgbClr val="0E0D0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Título do Slide</a:t>
            </a:r>
            <a:endParaRPr i="0" sz="1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457200" y="1112490"/>
            <a:ext cx="905256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3871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Subtítulo explicativo em uma linha</a:t>
            </a:r>
            <a:endParaRPr i="0" sz="10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2981716" y="3066083"/>
            <a:ext cx="31804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5A5852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Corpo do slide — mantenha poucas ideias por página.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8544446" y="4815855"/>
            <a:ext cx="180454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9E9B9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E9B9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571500" y="4549155"/>
            <a:ext cx="8801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9E9B92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Este slide é um guia para quem for usar o template — apague-o antes de apresentar.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descr="preencoded.png" id="62" name="Google Shape;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0400"/>
            <a:ext cx="719859" cy="30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3447" y="283064"/>
            <a:ext cx="719850" cy="24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87347" y="292351"/>
            <a:ext cx="218150" cy="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FE6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/>
          <p:nvPr/>
        </p:nvSpPr>
        <p:spPr>
          <a:xfrm>
            <a:off x="457200" y="819150"/>
            <a:ext cx="905256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2909"/>
              </a:lnSpc>
              <a:spcBef>
                <a:spcPts val="0"/>
              </a:spcBef>
              <a:spcAft>
                <a:spcPts val="0"/>
              </a:spcAft>
              <a:buClr>
                <a:srgbClr val="0E0D0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Introdução e Motivação</a:t>
            </a:r>
            <a:endParaRPr i="0" sz="1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457200" y="1112490"/>
            <a:ext cx="905256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3871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Qual problema este trabalho resolve, e por quê</a:t>
            </a:r>
            <a:endParaRPr i="0" sz="10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457200" y="2835623"/>
            <a:ext cx="38100" cy="38100"/>
          </a:xfrm>
          <a:prstGeom prst="ellipse">
            <a:avLst/>
          </a:prstGeom>
          <a:solidFill>
            <a:srgbClr val="8D0DE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609600" y="2797523"/>
            <a:ext cx="128089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5852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Contexto do problema.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457200" y="3128963"/>
            <a:ext cx="38100" cy="38100"/>
          </a:xfrm>
          <a:prstGeom prst="ellipse">
            <a:avLst/>
          </a:prstGeom>
          <a:solidFill>
            <a:srgbClr val="8D0DE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609600" y="3090863"/>
            <a:ext cx="207359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5852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Lacuna ou oportunidade identificada.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457200" y="3422303"/>
            <a:ext cx="38100" cy="38100"/>
          </a:xfrm>
          <a:prstGeom prst="ellipse">
            <a:avLst/>
          </a:prstGeom>
          <a:solidFill>
            <a:srgbClr val="8D0DE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609600" y="3384203"/>
            <a:ext cx="117179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5852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Objetivo do trabalho.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8538419" y="4815855"/>
            <a:ext cx="186482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9E9B9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E9B9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0400"/>
            <a:ext cx="719859" cy="30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" name="Google Shape;8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3447" y="283064"/>
            <a:ext cx="719850" cy="24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" name="Google Shape;8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87347" y="292351"/>
            <a:ext cx="218150" cy="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FE6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/>
          <p:nvPr/>
        </p:nvSpPr>
        <p:spPr>
          <a:xfrm>
            <a:off x="457200" y="819150"/>
            <a:ext cx="905256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2909"/>
              </a:lnSpc>
              <a:spcBef>
                <a:spcPts val="0"/>
              </a:spcBef>
              <a:spcAft>
                <a:spcPts val="0"/>
              </a:spcAft>
              <a:buClr>
                <a:srgbClr val="0E0D0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Metodologia</a:t>
            </a:r>
            <a:endParaRPr i="0" sz="1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457200" y="1112490"/>
            <a:ext cx="905256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3871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Como o trabalho foi conduzido</a:t>
            </a:r>
            <a:endParaRPr i="0" sz="10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457200" y="1503015"/>
            <a:ext cx="2641551" cy="3335685"/>
          </a:xfrm>
          <a:prstGeom prst="roundRect">
            <a:avLst>
              <a:gd fmla="val 288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1E002F">
                <a:alpha val="5882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590550" y="1674465"/>
            <a:ext cx="2612336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Etapa 1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590550" y="1868761"/>
            <a:ext cx="2612336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5852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Descrição breve da primeira etapa.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3251151" y="1503015"/>
            <a:ext cx="2641625" cy="3335685"/>
          </a:xfrm>
          <a:prstGeom prst="roundRect">
            <a:avLst>
              <a:gd fmla="val 288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1E002F">
                <a:alpha val="5882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3384501" y="1674465"/>
            <a:ext cx="2612417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Etapa 2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3384501" y="1868761"/>
            <a:ext cx="261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5852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Descrição breve da segunda etapa.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6045175" y="1503015"/>
            <a:ext cx="2641625" cy="3335685"/>
          </a:xfrm>
          <a:prstGeom prst="roundRect">
            <a:avLst>
              <a:gd fmla="val 288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1E002F">
                <a:alpha val="5882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6178525" y="1674465"/>
            <a:ext cx="2612418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Etapa 3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6178525" y="1868761"/>
            <a:ext cx="2612418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5852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Descrição breve da terceira etapa.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8542957" y="4815855"/>
            <a:ext cx="181943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9E9B9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E9B9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0400"/>
            <a:ext cx="719859" cy="30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0" name="Google Shape;10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3447" y="283064"/>
            <a:ext cx="719850" cy="24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" name="Google Shape;10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87347" y="292351"/>
            <a:ext cx="218150" cy="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FE6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>
            <a:off x="457200" y="781050"/>
            <a:ext cx="905256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2909"/>
              </a:lnSpc>
              <a:spcBef>
                <a:spcPts val="0"/>
              </a:spcBef>
              <a:spcAft>
                <a:spcPts val="0"/>
              </a:spcAft>
              <a:buClr>
                <a:srgbClr val="0E0D0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Resultados</a:t>
            </a:r>
            <a:endParaRPr i="0" sz="1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457200" y="1074390"/>
            <a:ext cx="905256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3871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O achado principal, em uma frase</a:t>
            </a:r>
            <a:endParaRPr i="0" sz="10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457200" y="2968005"/>
            <a:ext cx="38100" cy="38100"/>
          </a:xfrm>
          <a:prstGeom prst="ellipse">
            <a:avLst/>
          </a:prstGeom>
          <a:solidFill>
            <a:srgbClr val="8D0DE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609600" y="2934668"/>
            <a:ext cx="145130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5852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Principal resultado obtido.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457200" y="3242295"/>
            <a:ext cx="38100" cy="38100"/>
          </a:xfrm>
          <a:prstGeom prst="ellipse">
            <a:avLst/>
          </a:prstGeom>
          <a:solidFill>
            <a:srgbClr val="8D0DE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609600" y="3208958"/>
            <a:ext cx="223585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5852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Comparação com o esperado / baseline.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8539312" y="4815855"/>
            <a:ext cx="185588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9E9B9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E9B9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0400"/>
            <a:ext cx="719859" cy="30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5" name="Google Shape;11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3447" y="283064"/>
            <a:ext cx="719850" cy="24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6" name="Google Shape;11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87347" y="292351"/>
            <a:ext cx="218150" cy="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FE6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/>
          <p:nvPr/>
        </p:nvSpPr>
        <p:spPr>
          <a:xfrm>
            <a:off x="457200" y="819150"/>
            <a:ext cx="905256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2909"/>
              </a:lnSpc>
              <a:spcBef>
                <a:spcPts val="0"/>
              </a:spcBef>
              <a:spcAft>
                <a:spcPts val="0"/>
              </a:spcAft>
              <a:buClr>
                <a:srgbClr val="0E0D0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Conclusão e Próximos Passos</a:t>
            </a:r>
            <a:endParaRPr i="0" sz="1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457200" y="1112490"/>
            <a:ext cx="905256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3871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O que foi entregue e o que vem a seguir</a:t>
            </a:r>
            <a:endParaRPr i="0" sz="10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457200" y="1464915"/>
            <a:ext cx="980956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CONCLUSÕES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457200" y="1749698"/>
            <a:ext cx="38100" cy="38100"/>
          </a:xfrm>
          <a:prstGeom prst="ellipse">
            <a:avLst/>
          </a:prstGeom>
          <a:solidFill>
            <a:srgbClr val="8D0DE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609600" y="1716361"/>
            <a:ext cx="162858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5852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Síntese do que foi alcançado.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4686300" y="1464915"/>
            <a:ext cx="1371243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8D0DE3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PRÓXIMOS PASSOS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4686300" y="1749698"/>
            <a:ext cx="38100" cy="38100"/>
          </a:xfrm>
          <a:prstGeom prst="ellipse">
            <a:avLst/>
          </a:prstGeom>
          <a:solidFill>
            <a:srgbClr val="8D0DE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4838700" y="1716361"/>
            <a:ext cx="167135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5852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Extensões futuras do trabalho.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8551218" y="4815855"/>
            <a:ext cx="173682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9E9B9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E9B9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0400"/>
            <a:ext cx="719859" cy="30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3447" y="283064"/>
            <a:ext cx="719850" cy="24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87347" y="292351"/>
            <a:ext cx="218150" cy="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FE6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9" name="Google Shape;1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0400"/>
            <a:ext cx="719859" cy="30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0" name="Google Shape;14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3447" y="283064"/>
            <a:ext cx="719850" cy="24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1" name="Google Shape;14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87347" y="292351"/>
            <a:ext cx="218150" cy="21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1"/>
          <p:cNvSpPr/>
          <p:nvPr/>
        </p:nvSpPr>
        <p:spPr>
          <a:xfrm>
            <a:off x="457200" y="819150"/>
            <a:ext cx="905256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2909"/>
              </a:lnSpc>
              <a:spcBef>
                <a:spcPts val="0"/>
              </a:spcBef>
              <a:spcAft>
                <a:spcPts val="0"/>
              </a:spcAft>
              <a:buClr>
                <a:srgbClr val="0E0D0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Referências</a:t>
            </a:r>
            <a:endParaRPr i="0" sz="1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457200" y="2827958"/>
            <a:ext cx="6810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5A5852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SOBRENOME, Nome. </a:t>
            </a:r>
            <a:r>
              <a:rPr i="1" lang="en" sz="9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Título da obra</a:t>
            </a:r>
            <a:r>
              <a:rPr i="0" lang="en" sz="9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. Editora, Ano.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457200" y="3104183"/>
            <a:ext cx="6810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5A5852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SOBRENOME, Nome. Título do artigo. </a:t>
            </a:r>
            <a:r>
              <a:rPr i="1" lang="en" sz="9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Nome do periódico</a:t>
            </a:r>
            <a:r>
              <a:rPr i="0" lang="en" sz="9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, v. X, n. Y, Ano.</a:t>
            </a:r>
            <a:endParaRPr i="0" sz="9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8541841" y="4815855"/>
            <a:ext cx="183059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9E9B9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E9B9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