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10"/>
    <p:sldId id="257" r:id="rId11"/>
    <p:sldId id="258" r:id="rId12"/>
    <p:sldId id="259" r:id="rId13"/>
    <p:sldId id="260" r:id="rId14"/>
    <p:sldId id="261" r:id="rId9"/>
    <p:sldId id="262" r:id="rId8"/>
    <p:sldId id="263" r:id="rId7"/>
    <p:sldId id="264" r:id="rId6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</p:sldIdLst>
  <p:sldSz cy="5143500" cx="9144000"/>
  <p:notesSz cx="6858000" cy="9144000"/>
  <p:embeddedFontLst>
    <p:embeddedFont>
      <p:font typeface="Google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font" Target="fonts/GoogleSans-regular.fntdata"/><Relationship Id="rId16" Type="http://schemas.openxmlformats.org/officeDocument/2006/relationships/font" Target="fonts/GoogleSans-bold.fntdata"/><Relationship Id="rId17" Type="http://schemas.openxmlformats.org/officeDocument/2006/relationships/font" Target="fonts/GoogleSans-italic.fntdata"/><Relationship Id="rId18" Type="http://schemas.openxmlformats.org/officeDocument/2006/relationships/font" Target="fonts/GoogleSans-boldItalic.fntdata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143000"/>
            <a:ext cx="1198741" cy="5029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1472550" cy="5029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79" y="114300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2148840"/>
            <a:ext cx="7223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E0D0B"/>
                </a:solidFill>
                <a:latin typeface="Google Sans"/>
              </a:defRPr>
            </a:pPr>
            <a:r>
              <a:t>Data Drift em um modelo Seq2Seq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E0D0B"/>
                </a:solidFill>
                <a:latin typeface="Google Sans"/>
              </a:defRPr>
            </a:pPr>
            <a:r>
              <a:t>para predição de trajetórias na RoboCup SSL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154680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Ivan G. Yamasaki · Orientador: Prof. Dr. Marcos R. O. A. Máximo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511296"/>
            <a:ext cx="6492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9E9B92"/>
                </a:solidFill>
                <a:latin typeface="Google Sans"/>
              </a:defRPr>
            </a:pPr>
            <a:r>
              <a:t>Instituto Tecnológico de Aeronáutica · Julho de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4069080"/>
            <a:ext cx="1188720" cy="50292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E0D0B"/>
                </a:solidFill>
                <a:latin typeface="Google Sans"/>
              </a:defRPr>
            </a:pPr>
            <a:r>
              <a:t>Introdução e motivação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D0DE3"/>
                </a:solidFill>
                <a:latin typeface="Google Sans"/>
              </a:defRPr>
            </a:pPr>
            <a:r>
              <a:t>Predição precisa hoje; comportamento da liga muda amanhã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70432"/>
            <a:ext cx="8138160" cy="0"/>
          </a:xfrm>
          <a:prstGeom prst="line">
            <a:avLst/>
          </a:prstGeom>
          <a:ln w="8890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27448"/>
            <a:ext cx="348725" cy="1463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727448"/>
            <a:ext cx="428378" cy="14630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727448"/>
            <a:ext cx="146304" cy="146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E9B92"/>
                </a:solidFill>
                <a:latin typeface="Google Sans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2468880" cy="237744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1" y="1755648"/>
            <a:ext cx="64008" cy="1975104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175564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D0DE3"/>
                </a:solidFill>
                <a:latin typeface="Google Sans"/>
              </a:defRPr>
            </a:pPr>
            <a:r>
              <a:t>CONTEXTO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7" y="2112264"/>
            <a:ext cx="1920240" cy="166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A predição de trajetórias apoia decisões em tempo real na Small Size League.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554480"/>
            <a:ext cx="2468880" cy="237744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02152" y="1755648"/>
            <a:ext cx="64008" cy="1975104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8" y="175564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D0DE3"/>
                </a:solidFill>
                <a:latin typeface="Google Sans"/>
              </a:defRPr>
            </a:pPr>
            <a:r>
              <a:t>LACUNA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2112264"/>
            <a:ext cx="1920240" cy="166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Um modelo treinado em uma temporada pode degradar silenciosamente em ligas futuras.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554480"/>
            <a:ext cx="2468880" cy="237744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99631" y="1755648"/>
            <a:ext cx="64008" cy="1975104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75564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D0DE3"/>
                </a:solidFill>
                <a:latin typeface="Google Sans"/>
              </a:defRPr>
            </a:pPr>
            <a:r>
              <a:t>OBJETIVO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112264"/>
            <a:ext cx="1920240" cy="166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Medir o drift, explicar sua origem e definir como adaptar e quando retreinar.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E0D0B"/>
                </a:solidFill>
                <a:latin typeface="Google Sans"/>
              </a:defRPr>
            </a:pPr>
            <a:r>
              <a:t>Perguntas do estudo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D0DE3"/>
                </a:solidFill>
                <a:latin typeface="Google Sans"/>
              </a:defRPr>
            </a:pPr>
            <a:r>
              <a:t>Uma avaliação temporal do preditor seq2seq usado como baseline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70432"/>
            <a:ext cx="8138160" cy="0"/>
          </a:xfrm>
          <a:prstGeom prst="line">
            <a:avLst/>
          </a:prstGeom>
          <a:ln w="8890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27448"/>
            <a:ext cx="348725" cy="1463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727448"/>
            <a:ext cx="428378" cy="14630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727448"/>
            <a:ext cx="146304" cy="146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E9B92"/>
                </a:solidFill>
                <a:latin typeface="Google Sans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2423160" cy="20574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" y="1892808"/>
            <a:ext cx="64008" cy="1655064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1892808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D0DE3"/>
                </a:solidFill>
                <a:latin typeface="Google Sans"/>
              </a:defRPr>
            </a:pPr>
            <a:r>
              <a:t>Quanto?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1874519" cy="1344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Como a ADE muda entre 2019 e 2025?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691640"/>
            <a:ext cx="2423160" cy="20574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47872" y="1892808"/>
            <a:ext cx="64008" cy="1655064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7328" y="1892808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D0DE3"/>
                </a:solidFill>
                <a:latin typeface="Google Sans"/>
              </a:defRPr>
            </a:pPr>
            <a:r>
              <a:t>Por quê?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2249424"/>
            <a:ext cx="1874519" cy="1344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Que parte vem de covariate shift e quais variáveis o explicam?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691640"/>
            <a:ext cx="2423160" cy="20574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5352" y="1892808"/>
            <a:ext cx="64008" cy="1655064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1892808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D0DE3"/>
                </a:solidFill>
                <a:latin typeface="Google Sans"/>
              </a:defRPr>
            </a:pPr>
            <a:r>
              <a:t>O que fazer?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249424"/>
            <a:ext cx="1874519" cy="1344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Como adaptar sem esquecer e como sinalizar o momento de retreinar?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E0D0B"/>
                </a:solidFill>
                <a:latin typeface="Google Sans"/>
              </a:defRPr>
            </a:pPr>
            <a:r>
              <a:t>Dados e protocolo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D0DE3"/>
                </a:solidFill>
                <a:latin typeface="Google Sans"/>
              </a:defRPr>
            </a:pPr>
            <a:r>
              <a:t>Logs oficiais dos mundiais da RoboCup SSL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70432"/>
            <a:ext cx="8138160" cy="0"/>
          </a:xfrm>
          <a:prstGeom prst="line">
            <a:avLst/>
          </a:prstGeom>
          <a:ln w="8890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27448"/>
            <a:ext cx="348725" cy="1463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727448"/>
            <a:ext cx="428378" cy="14630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727448"/>
            <a:ext cx="146304" cy="146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E9B92"/>
                </a:solidFill>
                <a:latin typeface="Google Sans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2423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4360" y="1691640"/>
            <a:ext cx="2423160" cy="0"/>
          </a:xfrm>
          <a:prstGeom prst="line">
            <a:avLst/>
          </a:prstGeom>
          <a:ln w="30480">
            <a:solidFill>
              <a:srgbClr val="8D0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196596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8D0DE3"/>
                </a:solidFill>
                <a:latin typeface="Google Sans"/>
              </a:defRPr>
            </a:pPr>
            <a:r>
              <a:t>1 ·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87168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A5852"/>
                </a:solidFill>
                <a:latin typeface="Google Sans"/>
              </a:defRPr>
            </a:pPr>
            <a:r>
              <a:t>Logs oficiais 2019–2025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A5852"/>
                </a:solidFill>
                <a:latin typeface="Google Sans"/>
              </a:defRPr>
            </a:pPr>
            <a:r>
              <a:t>6 jogos da Divisão A por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A5852"/>
                </a:solidFill>
                <a:latin typeface="Google Sans"/>
              </a:defRPr>
            </a:pPr>
            <a:r>
              <a:t>mundial · 36 no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A5852"/>
                </a:solidFill>
                <a:latin typeface="Google Sans"/>
              </a:defRPr>
            </a:pPr>
            <a:r>
              <a:t>2020 não teve competição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79" y="1691640"/>
            <a:ext cx="2423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383279" y="1691640"/>
            <a:ext cx="2423161" cy="0"/>
          </a:xfrm>
          <a:prstGeom prst="line">
            <a:avLst/>
          </a:prstGeom>
          <a:ln w="30480">
            <a:solidFill>
              <a:srgbClr val="8D0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11879" y="196596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8D0DE3"/>
                </a:solidFill>
                <a:latin typeface="Google Sans"/>
              </a:defRPr>
            </a:pPr>
            <a:r>
              <a:t>2 · Stream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2487168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A5852"/>
                </a:solidFill>
                <a:latin typeface="Google Sans"/>
              </a:defRPr>
            </a:pPr>
            <a:r>
              <a:t>8 mil janelas/jogo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A5852"/>
                </a:solidFill>
                <a:latin typeface="Google Sans"/>
              </a:defRPr>
            </a:pPr>
            <a:r>
              <a:t>288 mil trajetórias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A5852"/>
                </a:solidFill>
                <a:latin typeface="Google Sans"/>
              </a:defRPr>
            </a:pPr>
            <a:r>
              <a:t>ordem temporal preservada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91640"/>
            <a:ext cx="2423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172200" y="1691640"/>
            <a:ext cx="2423160" cy="0"/>
          </a:xfrm>
          <a:prstGeom prst="line">
            <a:avLst/>
          </a:prstGeom>
          <a:ln w="30480">
            <a:solidFill>
              <a:srgbClr val="8D0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0" y="196596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8D0DE3"/>
                </a:solidFill>
                <a:latin typeface="Google Sans"/>
              </a:defRPr>
            </a:pPr>
            <a:r>
              <a:t>3 · Avaliação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87168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A5852"/>
                </a:solidFill>
                <a:latin typeface="Google Sans"/>
              </a:defRPr>
            </a:pPr>
            <a:r>
              <a:t>ADE em milímetros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A5852"/>
                </a:solidFill>
                <a:latin typeface="Google Sans"/>
              </a:defRPr>
            </a:pPr>
            <a:r>
              <a:t>horizontes 30→15 e 60→30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A5852"/>
                </a:solidFill>
                <a:latin typeface="Google Sans"/>
              </a:defRPr>
            </a:pPr>
            <a:r>
              <a:t>2019 = referência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96512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1">
                <a:solidFill>
                  <a:srgbClr val="9E9B92"/>
                </a:solidFill>
                <a:latin typeface="Google Sans"/>
              </a:defRPr>
            </a:pPr>
            <a:r>
              <a:t>O baseline usa os seis jogos de 2019: com apenas um jogo, a ADE varia de 4,53 a 6,20 mm.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E0D0B"/>
                </a:solidFill>
                <a:latin typeface="Google Sans"/>
              </a:defRPr>
            </a:pPr>
            <a:r>
              <a:t>Modelo 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D0DE3"/>
                </a:solidFill>
                <a:latin typeface="Google Sans"/>
              </a:defRPr>
            </a:pPr>
            <a:r>
              <a:t>Comparação limpa entre um modelo aprendido e um comparador cinemático fixo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70432"/>
            <a:ext cx="8138160" cy="0"/>
          </a:xfrm>
          <a:prstGeom prst="line">
            <a:avLst/>
          </a:prstGeom>
          <a:ln w="8890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27448"/>
            <a:ext cx="348725" cy="1463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727448"/>
            <a:ext cx="428378" cy="14630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727448"/>
            <a:ext cx="146304" cy="146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E9B92"/>
                </a:solidFill>
                <a:latin typeface="Google Sans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2331720" cy="1874519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1168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8D0DE3"/>
                </a:solidFill>
                <a:latin typeface="Google Sans"/>
              </a:defRPr>
            </a:pPr>
            <a:r>
              <a:t>Entrada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87168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[x, y, vx, vy, sin ψ, cos ψ]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ψ = orientação do robô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30 passos observados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53288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8D0DE3"/>
                </a:solidFill>
                <a:latin typeface="Google San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737360"/>
            <a:ext cx="2331720" cy="1874519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01168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8D0DE3"/>
                </a:solidFill>
                <a:latin typeface="Google Sans"/>
              </a:defRPr>
            </a:pPr>
            <a:r>
              <a:t>Seq2Seq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487168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Encoder LSTM (128)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atenção aditiva (Bahdanau et al.)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decoder auto-regressivo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2432" y="253288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8D0DE3"/>
                </a:solidFill>
                <a:latin typeface="Google San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737360"/>
            <a:ext cx="2331720" cy="1874519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01168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8D0DE3"/>
                </a:solidFill>
                <a:latin typeface="Google Sans"/>
              </a:defRPr>
            </a:pPr>
            <a:r>
              <a:t>Saída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487168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15 posições futuras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ADE como métrica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baseline: filtro de Kalman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de velocidade constante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06908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A5852"/>
                </a:solidFill>
                <a:latin typeface="Google Sans"/>
              </a:defRPr>
            </a:pPr>
            <a:r>
              <a:t>O modelo prevê velocidades incrementais; por isso é diretamente sensível a mudanças cinemáticas.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E0D0B"/>
                </a:solidFill>
                <a:latin typeface="Google Sans"/>
              </a:defRPr>
            </a:pPr>
            <a:r>
              <a:t>Resultado 1 — o drift é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D0DE3"/>
                </a:solidFill>
                <a:latin typeface="Google Sans"/>
              </a:defRPr>
            </a:pPr>
            <a:r>
              <a:t>A perda de precisão cresce ao se afastar da temporada de treino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70432"/>
            <a:ext cx="8138160" cy="0"/>
          </a:xfrm>
          <a:prstGeom prst="line">
            <a:avLst/>
          </a:prstGeom>
          <a:ln w="8890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27448"/>
            <a:ext cx="348725" cy="1463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727448"/>
            <a:ext cx="428378" cy="14630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727448"/>
            <a:ext cx="146304" cy="146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E9B92"/>
                </a:solidFill>
                <a:latin typeface="Google Sans"/>
              </a:defRPr>
            </a:pPr>
            <a:r>
              <a:t>06</a:t>
            </a:r>
          </a:p>
        </p:txBody>
      </p:sp>
      <p:pic>
        <p:nvPicPr>
          <p:cNvPr id="10" name="Picture 9" descr="_fig_degradacao_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481328"/>
            <a:ext cx="7772400" cy="2606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279392"/>
            <a:ext cx="7635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1">
                <a:solidFill>
                  <a:srgbClr val="9E9B92"/>
                </a:solidFill>
                <a:latin typeface="Google Sans"/>
              </a:defRPr>
            </a:pPr>
            <a:r>
              <a:t>São dois efeitos separados: o salto de 2021 (torneio em simulação) e a tendência gradual de 2022 a 2025, ambos medidos contra 2019.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E0D0B"/>
                </a:solidFill>
                <a:latin typeface="Google Sans"/>
              </a:defRPr>
            </a:pPr>
            <a:r>
              <a:t>Resultado 2 — a aceleração lidera a mudança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D0DE3"/>
                </a:solidFill>
                <a:latin typeface="Google Sans"/>
              </a:defRPr>
            </a:pPr>
            <a:r>
              <a:t>A cauda cinemática explica onde o novo regime entra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70432"/>
            <a:ext cx="8138160" cy="0"/>
          </a:xfrm>
          <a:prstGeom prst="line">
            <a:avLst/>
          </a:prstGeom>
          <a:ln w="8890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27448"/>
            <a:ext cx="348725" cy="1463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727448"/>
            <a:ext cx="428378" cy="14630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727448"/>
            <a:ext cx="146304" cy="146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E9B92"/>
                </a:solidFill>
                <a:latin typeface="Google Sans"/>
              </a:defRPr>
            </a:pPr>
            <a:r>
              <a:t>07</a:t>
            </a:r>
          </a:p>
        </p:txBody>
      </p:sp>
      <p:pic>
        <p:nvPicPr>
          <p:cNvPr id="10" name="Picture 9" descr="_fig_drift_cinematico_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481328"/>
            <a:ext cx="7863840" cy="2542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27024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1">
                <a:solidFill>
                  <a:srgbClr val="9E9B92"/>
                </a:solidFill>
                <a:latin typeface="Google Sans"/>
              </a:defRPr>
            </a:pPr>
            <a:r>
              <a:t>KS e Wasserstein se afastam da base 2019; accel_p99 se associa ao aumento da ADE por jogo.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E0D0B"/>
                </a:solidFill>
                <a:latin typeface="Google Sans"/>
              </a:defRPr>
            </a:pPr>
            <a:r>
              <a:t>Resultado 3 — predominância de covariate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D0DE3"/>
                </a:solidFill>
                <a:latin typeface="Google Sans"/>
              </a:defRPr>
            </a:pPr>
            <a:r>
              <a:t>Reponderar exemplos de 2019 recupera a maior parte do excesso de erro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70432"/>
            <a:ext cx="8138160" cy="0"/>
          </a:xfrm>
          <a:prstGeom prst="line">
            <a:avLst/>
          </a:prstGeom>
          <a:ln w="8890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27448"/>
            <a:ext cx="348725" cy="1463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727448"/>
            <a:ext cx="428378" cy="14630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727448"/>
            <a:ext cx="146304" cy="146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E9B92"/>
                </a:solidFill>
                <a:latin typeface="Google Sans"/>
              </a:defRPr>
            </a:pPr>
            <a:r>
              <a:t>08</a:t>
            </a:r>
          </a:p>
        </p:txBody>
      </p:sp>
      <p:pic>
        <p:nvPicPr>
          <p:cNvPr id="10" name="Picture 9" descr="_fig_iw_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1554480"/>
            <a:ext cx="7040880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434840"/>
            <a:ext cx="7680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0" b="0" i="1">
                <a:solidFill>
                  <a:srgbClr val="9E9B92"/>
                </a:solidFill>
                <a:latin typeface="Google Sans"/>
              </a:defRPr>
            </a:pPr>
            <a:r>
              <a:t>LSIF atribui 59–72% do excesso a covariate shift; classificador independente confirma mudança em todas as temporadas.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E0D0B"/>
                </a:solidFill>
                <a:latin typeface="Google Sans"/>
              </a:defRPr>
            </a:pPr>
            <a:r>
              <a:t>Adaptação ao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D0DE3"/>
                </a:solidFill>
                <a:latin typeface="Google Sans"/>
              </a:defRPr>
            </a:pPr>
            <a:r>
              <a:t>O objetivo é recuperar o regime novo sem perder desempenho no regime antigo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70432"/>
            <a:ext cx="8138160" cy="0"/>
          </a:xfrm>
          <a:prstGeom prst="line">
            <a:avLst/>
          </a:prstGeom>
          <a:ln w="8890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27448"/>
            <a:ext cx="348725" cy="1463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727448"/>
            <a:ext cx="428378" cy="14630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727448"/>
            <a:ext cx="146304" cy="146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E9B92"/>
                </a:solidFill>
                <a:latin typeface="Google Sans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2468880" cy="242316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" y="1755648"/>
            <a:ext cx="64008" cy="2020824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175564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D0DE3"/>
                </a:solidFill>
                <a:latin typeface="Google Sans"/>
              </a:defRPr>
            </a:pPr>
            <a:r>
              <a:t>PROTOCOLO COMUM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112264"/>
            <a:ext cx="1920240" cy="1709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Regime antigo: 2019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Dados novos: 2022–2025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500 trajetórias por jogo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2021 excluído (torneio em simulação)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554480"/>
            <a:ext cx="2468880" cy="242316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02152" y="1755648"/>
            <a:ext cx="64008" cy="2020824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8" y="175564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D0DE3"/>
                </a:solidFill>
                <a:latin typeface="Google Sans"/>
              </a:defRPr>
            </a:pPr>
            <a:r>
              <a:t>ATUALIZAÇÃO LEVE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2112264"/>
            <a:ext cx="1920240" cy="1709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Encoder congelado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2 camadas do decoder treináveis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taxa 10⁻⁵ · 5 épocas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554480"/>
            <a:ext cx="2468880" cy="242316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3912" y="1755648"/>
            <a:ext cx="64008" cy="2020824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75564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D0DE3"/>
                </a:solidFill>
                <a:latin typeface="Google Sans"/>
              </a:defRPr>
            </a:pPr>
            <a:r>
              <a:t>CRITÉRIO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112264"/>
            <a:ext cx="1920240" cy="1709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cat_ratio = fração das trajetórias antigas que pioram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Menor é melhor: mede esquecimento catastrófico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E0D0B"/>
                </a:solidFill>
                <a:latin typeface="Google Sans"/>
              </a:defRPr>
            </a:pPr>
            <a:r>
              <a:t>Resultado 4 — replay ponderado é a melhor resposta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D0DE3"/>
                </a:solidFill>
                <a:latin typeface="Google Sans"/>
              </a:defRPr>
            </a:pPr>
            <a:r>
              <a:t>Restringir a adaptação ao recorte mais extremo da aceleração piora o esquecimento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70432"/>
            <a:ext cx="8138160" cy="0"/>
          </a:xfrm>
          <a:prstGeom prst="line">
            <a:avLst/>
          </a:prstGeom>
          <a:ln w="8890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27448"/>
            <a:ext cx="348725" cy="1463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727448"/>
            <a:ext cx="428378" cy="14630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727448"/>
            <a:ext cx="146304" cy="146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E9B92"/>
                </a:solidFill>
                <a:latin typeface="Google Sans"/>
              </a:defRPr>
            </a:pPr>
            <a:r>
              <a:t>10</a:t>
            </a:r>
          </a:p>
        </p:txBody>
      </p:sp>
      <p:pic>
        <p:nvPicPr>
          <p:cNvPr id="10" name="Picture 9" descr="_fig_finetune_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1481328"/>
            <a:ext cx="7955279" cy="2423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22452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40" b="0" i="1">
                <a:solidFill>
                  <a:srgbClr val="9E9B92"/>
                </a:solidFill>
                <a:latin typeface="Google Sans"/>
              </a:defRPr>
            </a:pPr>
            <a:r>
              <a:t>Fine-tuning leve reduz cat_ratio de 0,82 para ~0,46. Replay ponderado por importance weighting atinge o menor valor (0,417); EWC é inerte.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E0D0B"/>
                </a:solidFill>
                <a:latin typeface="Google Sans"/>
              </a:defRPr>
            </a:pPr>
            <a:r>
              <a:t>Detecção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D0DE3"/>
                </a:solidFill>
                <a:latin typeface="Google Sans"/>
              </a:defRPr>
            </a:pPr>
            <a:r>
              <a:t>Do diagnóstico estatístico à decisão operacional de retreinar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70432"/>
            <a:ext cx="8138160" cy="0"/>
          </a:xfrm>
          <a:prstGeom prst="line">
            <a:avLst/>
          </a:prstGeom>
          <a:ln w="8890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27448"/>
            <a:ext cx="348725" cy="1463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727448"/>
            <a:ext cx="428378" cy="14630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727448"/>
            <a:ext cx="146304" cy="146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E9B92"/>
                </a:solidFill>
                <a:latin typeface="Google Sans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2468880" cy="20574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8D0DE3"/>
                </a:solidFill>
                <a:latin typeface="Google Sans"/>
              </a:defRPr>
            </a:pPr>
            <a:r>
              <a:t>01  Sinal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23744"/>
            <a:ext cx="193852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ADE por trajetória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normalizada localmente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mediana + MAD (w=200)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57860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8D0DE3"/>
                </a:solidFill>
                <a:latin typeface="Google San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468880" cy="20574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9933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8D0DE3"/>
                </a:solidFill>
                <a:latin typeface="Google Sans"/>
              </a:defRPr>
            </a:pPr>
            <a:r>
              <a:t>02  Calibração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523744"/>
            <a:ext cx="193852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ADWIN em grade de 96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2-fold por jogos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seleção e teste separados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257860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8D0DE3"/>
                </a:solidFill>
                <a:latin typeface="Google San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737360"/>
            <a:ext cx="2468880" cy="20574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933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8D0DE3"/>
                </a:solidFill>
                <a:latin typeface="Google Sans"/>
              </a:defRPr>
            </a:pPr>
            <a:r>
              <a:t>03  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23744"/>
            <a:ext cx="193852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alarme primário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→ retreinar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camadas auxiliares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→ monitorar e confirmar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78808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9E9B92"/>
                </a:solidFill>
                <a:latin typeface="Google Sans"/>
              </a:defRPr>
            </a:pPr>
            <a:r>
              <a:t>Pergunta operacional: o sinal é confiável o bastante para disparar retreinamento?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E0D0B"/>
                </a:solidFill>
                <a:latin typeface="Google Sans"/>
              </a:defRPr>
            </a:pPr>
            <a:r>
              <a:t>Arquitetura de detecção em camadas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D0DE3"/>
                </a:solidFill>
                <a:latin typeface="Google Sans"/>
              </a:defRPr>
            </a:pPr>
            <a:r>
              <a:t>Baseada exclusivamente no protocolo e nos resultados do artigo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70432"/>
            <a:ext cx="8138160" cy="0"/>
          </a:xfrm>
          <a:prstGeom prst="line">
            <a:avLst/>
          </a:prstGeom>
          <a:ln w="8890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27448"/>
            <a:ext cx="348725" cy="1463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727448"/>
            <a:ext cx="428378" cy="14630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727448"/>
            <a:ext cx="146304" cy="146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E9B92"/>
                </a:solidFill>
                <a:latin typeface="Google Sans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1234440" cy="566928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1" y="1673352"/>
            <a:ext cx="10881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FFFFFF"/>
                </a:solidFill>
                <a:latin typeface="Google Sans"/>
              </a:defRPr>
            </a:pPr>
            <a:r>
              <a:t>Camada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554480"/>
            <a:ext cx="2148840" cy="566928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93392" y="1673352"/>
            <a:ext cx="20025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FFFFFF"/>
                </a:solidFill>
                <a:latin typeface="Google Sans"/>
              </a:defRPr>
            </a:pPr>
            <a:r>
              <a:t>Sinal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554480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2" y="1673352"/>
            <a:ext cx="13624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FFFFFF"/>
                </a:solidFill>
                <a:latin typeface="Google Sans"/>
              </a:defRPr>
            </a:pPr>
            <a:r>
              <a:t>FAR / 1k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FFFFFF"/>
                </a:solidFill>
                <a:latin typeface="Google Sans"/>
              </a:defRPr>
            </a:pPr>
            <a:r>
              <a:t>(A / 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554480"/>
            <a:ext cx="1234440" cy="566928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5312" y="1673352"/>
            <a:ext cx="10881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FFFFFF"/>
                </a:solidFill>
                <a:latin typeface="Google Sans"/>
              </a:defRPr>
            </a:pPr>
            <a:r>
              <a:t>Cobertura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FFFFFF"/>
                </a:solidFill>
                <a:latin typeface="Google Sans"/>
              </a:defRPr>
            </a:pPr>
            <a:r>
              <a:t>(A / 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1554480"/>
            <a:ext cx="1188720" cy="566928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1192" y="1673352"/>
            <a:ext cx="10424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FFFFFF"/>
                </a:solidFill>
                <a:latin typeface="Google Sans"/>
              </a:defRPr>
            </a:pPr>
            <a:r>
              <a:t>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212848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322576"/>
            <a:ext cx="11247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8D0DE3"/>
                </a:solidFill>
                <a:latin typeface="Google Sans"/>
              </a:defRPr>
            </a:pPr>
            <a:r>
              <a:t>Primária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2212848"/>
            <a:ext cx="2148840" cy="438912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75104" y="2322576"/>
            <a:ext cx="2039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5A5852"/>
                </a:solidFill>
                <a:latin typeface="Google Sans"/>
              </a:defRPr>
            </a:pPr>
            <a:r>
              <a:t>ADE seq2seq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2212848"/>
            <a:ext cx="1508760" cy="438912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15383" y="2322576"/>
            <a:ext cx="13990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5A5852"/>
                </a:solidFill>
                <a:latin typeface="Google Sans"/>
              </a:defRPr>
            </a:pPr>
            <a:r>
              <a:t>0,042 / 0,125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2212848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07024" y="2322576"/>
            <a:ext cx="11247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5A5852"/>
                </a:solidFill>
                <a:latin typeface="Google Sans"/>
              </a:defRPr>
            </a:pPr>
            <a:r>
              <a:t>5/5 · 4/5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78040" y="2212848"/>
            <a:ext cx="1188720" cy="438912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2903" y="2322576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5A5852"/>
                </a:solidFill>
                <a:latin typeface="Google Sans"/>
              </a:defRPr>
            </a:pPr>
            <a:r>
              <a:t>retreinar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2697480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2807208"/>
            <a:ext cx="11247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8D0DE3"/>
                </a:solidFill>
                <a:latin typeface="Google Sans"/>
              </a:defRPr>
            </a:pPr>
            <a:r>
              <a:t>Vigilância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20240" y="2697480"/>
            <a:ext cx="214884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75104" y="2807208"/>
            <a:ext cx="2039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5A5852"/>
                </a:solidFill>
                <a:latin typeface="Google Sans"/>
              </a:defRPr>
            </a:pPr>
            <a:r>
              <a:t>accel_p95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60520" y="2697480"/>
            <a:ext cx="15087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15383" y="2807208"/>
            <a:ext cx="13990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5A5852"/>
                </a:solidFill>
                <a:latin typeface="Google Sans"/>
              </a:defRPr>
            </a:pPr>
            <a:r>
              <a:t>0,292 / 0,250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52160" y="2697480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07024" y="2807208"/>
            <a:ext cx="11247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5A5852"/>
                </a:solidFill>
                <a:latin typeface="Google Sans"/>
              </a:defRPr>
            </a:pPr>
            <a:r>
              <a:t>5/5 · 5/5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78040" y="2697480"/>
            <a:ext cx="118872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32903" y="2807208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5A5852"/>
                </a:solidFill>
                <a:latin typeface="Google Sans"/>
              </a:defRPr>
            </a:pPr>
            <a:r>
              <a:t>monitorar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3182112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" y="3291840"/>
            <a:ext cx="11247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8D0DE3"/>
                </a:solidFill>
                <a:latin typeface="Google Sans"/>
              </a:defRPr>
            </a:pPr>
            <a:r>
              <a:t>Confirmação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20240" y="3182112"/>
            <a:ext cx="2148840" cy="438912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75104" y="3291840"/>
            <a:ext cx="2039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5A5852"/>
                </a:solidFill>
                <a:latin typeface="Google Sans"/>
              </a:defRPr>
            </a:pPr>
            <a:r>
              <a:t>AND(ADE, accel)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60520" y="3182112"/>
            <a:ext cx="1508760" cy="438912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15383" y="3291840"/>
            <a:ext cx="13990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5A5852"/>
                </a:solidFill>
                <a:latin typeface="Google Sans"/>
              </a:defRPr>
            </a:pPr>
            <a:r>
              <a:t>0,000 / 0,000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852160" y="3182112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07024" y="3291840"/>
            <a:ext cx="11247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5A5852"/>
                </a:solidFill>
                <a:latin typeface="Google Sans"/>
              </a:defRPr>
            </a:pPr>
            <a:r>
              <a:t>3/5 · 2/5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78040" y="3182112"/>
            <a:ext cx="1188720" cy="438912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32903" y="3291840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5A5852"/>
                </a:solidFill>
                <a:latin typeface="Google Sans"/>
              </a:defRPr>
            </a:pPr>
            <a:r>
              <a:t>confirmar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3666744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" y="3776472"/>
            <a:ext cx="11247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8D0DE3"/>
                </a:solidFill>
                <a:latin typeface="Google Sans"/>
              </a:defRPr>
            </a:pPr>
            <a:r>
              <a:t>Corroboração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920240" y="3666744"/>
            <a:ext cx="214884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75104" y="3776472"/>
            <a:ext cx="2039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5A5852"/>
                </a:solidFill>
                <a:latin typeface="Google Sans"/>
              </a:defRPr>
            </a:pPr>
            <a:r>
              <a:t>ADE do filtro de Kalman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60520" y="3666744"/>
            <a:ext cx="15087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15383" y="3776472"/>
            <a:ext cx="13990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5A5852"/>
                </a:solidFill>
                <a:latin typeface="Google Sans"/>
              </a:defRPr>
            </a:pPr>
            <a:r>
              <a:t>0,167 / 0,083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52160" y="3666744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07024" y="3776472"/>
            <a:ext cx="11247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5A5852"/>
                </a:solidFill>
                <a:latin typeface="Google Sans"/>
              </a:defRPr>
            </a:pPr>
            <a:r>
              <a:t>5/5 · 5/5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178040" y="3666744"/>
            <a:ext cx="118872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32903" y="3776472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5A5852"/>
                </a:solidFill>
                <a:latin typeface="Google Sans"/>
              </a:defRPr>
            </a:pPr>
            <a:r>
              <a:t>redundância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443484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9" b="0" i="1">
                <a:solidFill>
                  <a:srgbClr val="9E9B92"/>
                </a:solidFill>
                <a:latin typeface="Google Sans"/>
              </a:defRPr>
            </a:pPr>
            <a:r>
              <a:t>Resultados fora da amostra. A camada de aceleração antecipa a de erro em 8 de 10 folds anuais.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E0D0B"/>
                </a:solidFill>
                <a:latin typeface="Google Sans"/>
              </a:defRPr>
            </a:pPr>
            <a:r>
              <a:t>Resultado 5 — detector primário confiável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D0DE3"/>
                </a:solidFill>
                <a:latin typeface="Google Sans"/>
              </a:defRPr>
            </a:pPr>
            <a:r>
              <a:t>ADWIN sobre o erro normalizado alcança baixa taxa de alarmes fora da amostra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70432"/>
            <a:ext cx="8138160" cy="0"/>
          </a:xfrm>
          <a:prstGeom prst="line">
            <a:avLst/>
          </a:prstGeom>
          <a:ln w="8890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27448"/>
            <a:ext cx="348725" cy="1463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727448"/>
            <a:ext cx="428378" cy="14630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727448"/>
            <a:ext cx="146304" cy="146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E9B92"/>
                </a:solidFill>
                <a:latin typeface="Google Sans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2487168" cy="16002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636776"/>
            <a:ext cx="2121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8D0DE3"/>
                </a:solidFill>
                <a:latin typeface="Google Sans"/>
              </a:defRPr>
            </a:pPr>
            <a:r>
              <a:t>0,042 – 0,125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185416"/>
            <a:ext cx="21214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9E9B92"/>
                </a:solidFill>
                <a:latin typeface="Google Sans"/>
              </a:defRPr>
            </a:pPr>
            <a:r>
              <a:t>POR MIL TRAJETÓRIAS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386584"/>
            <a:ext cx="2121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A5852"/>
                </a:solidFill>
                <a:latin typeface="Google Sans"/>
              </a:defRPr>
            </a:pPr>
            <a:r>
              <a:t>falsos alarmes em 2019, nos folds A e B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A5852"/>
                </a:solidFill>
                <a:latin typeface="Google Sans"/>
              </a:defRPr>
            </a:pPr>
            <a:r>
              <a:t>(teto de admissibilidade: 0,20)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6" y="1417320"/>
            <a:ext cx="2487168" cy="16002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1636776"/>
            <a:ext cx="2121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8D0DE3"/>
                </a:solidFill>
                <a:latin typeface="Google Sans"/>
              </a:defRPr>
            </a:pPr>
            <a:r>
              <a:t>9 /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185416"/>
            <a:ext cx="21214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9E9B92"/>
                </a:solidFill>
                <a:latin typeface="Google Sans"/>
              </a:defRPr>
            </a:pPr>
            <a:r>
              <a:t>COBERTURA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386584"/>
            <a:ext cx="2121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A5852"/>
                </a:solidFill>
                <a:latin typeface="Google Sans"/>
              </a:defRPr>
            </a:pPr>
            <a:r>
              <a:t>ano-folds com pelo menos um alarme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A5852"/>
                </a:solidFill>
                <a:latin typeface="Google Sans"/>
              </a:defRPr>
            </a:pPr>
            <a:r>
              <a:t>na temporada em que houve drift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1417320"/>
            <a:ext cx="2487168" cy="16002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636776"/>
            <a:ext cx="2121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8D0DE3"/>
                </a:solidFill>
                <a:latin typeface="Google Sans"/>
              </a:defRPr>
            </a:pPr>
            <a:r>
              <a:t>0,2 – 1,5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185416"/>
            <a:ext cx="21214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9E9B92"/>
                </a:solidFill>
                <a:latin typeface="Google Sans"/>
              </a:defRPr>
            </a:pPr>
            <a:r>
              <a:t>JOGOS DE LATÊNCIA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2386584"/>
            <a:ext cx="2121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A5852"/>
                </a:solidFill>
                <a:latin typeface="Google Sans"/>
              </a:defRPr>
            </a:pPr>
            <a:r>
              <a:t>até o primeiro alarme depois da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A5852"/>
                </a:solidFill>
                <a:latin typeface="Google Sans"/>
              </a:defRPr>
            </a:pPr>
            <a:r>
              <a:t>virada de cada temporada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0040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1" y="3401568"/>
            <a:ext cx="64008" cy="832104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7" y="340156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D0DE3"/>
                </a:solidFill>
                <a:latin typeface="Google Sans"/>
              </a:defRPr>
            </a:pPr>
            <a:r>
              <a:t>SEM NORMALIZAÇÃO NÃO HÁ DETECTOR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7" y="3758184"/>
            <a:ext cx="329184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Nenhuma das 96 configurações é admissível no sinal bruto, e os 21 suavizadores testados pioram o FAR.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20040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28031" y="3401568"/>
            <a:ext cx="64008" cy="832104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340156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D0DE3"/>
                </a:solidFill>
                <a:latin typeface="Google Sans"/>
              </a:defRPr>
            </a:pPr>
            <a:r>
              <a:t>SEM HOLDOUT, OUTRA ESCOLHA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3758184"/>
            <a:ext cx="329184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A configuração vencedora dentro da amostra mantém FAR ≈ 0 e cobre só 2–3 de 5 temporadas fora dela.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507992"/>
            <a:ext cx="7680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0" b="0" i="1">
                <a:solidFill>
                  <a:srgbClr val="9E9B92"/>
                </a:solidFill>
                <a:latin typeface="Google Sans"/>
              </a:defRPr>
            </a:pPr>
            <a:r>
              <a:t>Todos os números são fora da amostra: a calibração usa metade dos jogos de cada ano e a outra metade é avaliada uma única vez.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E0D0B"/>
                </a:solidFill>
                <a:latin typeface="Google Sans"/>
              </a:defRPr>
            </a:pPr>
            <a:r>
              <a:t>Conclusões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D0DE3"/>
                </a:solidFill>
                <a:latin typeface="Google Sans"/>
              </a:defRPr>
            </a:pPr>
            <a:r>
              <a:t>O que o estudo entrega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70432"/>
            <a:ext cx="8138160" cy="0"/>
          </a:xfrm>
          <a:prstGeom prst="line">
            <a:avLst/>
          </a:prstGeom>
          <a:ln w="8890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27448"/>
            <a:ext cx="348725" cy="1463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727448"/>
            <a:ext cx="428378" cy="14630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727448"/>
            <a:ext cx="146304" cy="146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E9B92"/>
                </a:solidFill>
                <a:latin typeface="Google Sans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08760"/>
            <a:ext cx="2487168" cy="256032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1" y="1709928"/>
            <a:ext cx="64008" cy="2157984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1709928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D0DE3"/>
                </a:solidFill>
                <a:latin typeface="Google Sans"/>
              </a:defRPr>
            </a:pPr>
            <a:r>
              <a:t>MEDIR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7" y="2066543"/>
            <a:ext cx="1938528" cy="1847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Drift persistente após o treino. O baseline do filtro de Kalman piora ainda mais, porque os robôs se afastam do modelo de velocidade constante.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6" y="1508760"/>
            <a:ext cx="2487168" cy="256032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93008" y="1709928"/>
            <a:ext cx="64008" cy="2157984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2464" y="1709928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D0DE3"/>
                </a:solidFill>
                <a:latin typeface="Google Sans"/>
              </a:defRPr>
            </a:pPr>
            <a:r>
              <a:t>EXPLICAR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4" y="2066543"/>
            <a:ext cx="1938528" cy="1847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59–72% do excesso é covariate shift, com aceleração na cauda como vetor dominante.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1508760"/>
            <a:ext cx="2487168" cy="256032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1344" y="1709928"/>
            <a:ext cx="64008" cy="2157984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709928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D0DE3"/>
                </a:solidFill>
                <a:latin typeface="Google Sans"/>
              </a:defRPr>
            </a:pPr>
            <a:r>
              <a:t>AGIR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66543"/>
            <a:ext cx="1938528" cy="1847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Replay ponderado reduz esquecimento; ADWIN normalizado fornece gatilho mensurável para retreinamento.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E0D0B"/>
                </a:solidFill>
                <a:latin typeface="Google Sans"/>
              </a:defRPr>
            </a:pPr>
            <a:r>
              <a:t>Limitações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D0DE3"/>
                </a:solidFill>
                <a:latin typeface="Google Sans"/>
              </a:defRPr>
            </a:pPr>
            <a:r>
              <a:t>Onde as conclusões devem ser interpretadas com cuidado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70432"/>
            <a:ext cx="8138160" cy="0"/>
          </a:xfrm>
          <a:prstGeom prst="line">
            <a:avLst/>
          </a:prstGeom>
          <a:ln w="8890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27448"/>
            <a:ext cx="348725" cy="1463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727448"/>
            <a:ext cx="428378" cy="14630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727448"/>
            <a:ext cx="146304" cy="146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E9B92"/>
                </a:solidFill>
                <a:latin typeface="Google Sans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08760"/>
            <a:ext cx="2514600" cy="242316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1" y="1709928"/>
            <a:ext cx="64008" cy="2020824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1709928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D0DE3"/>
                </a:solidFill>
                <a:latin typeface="Google Sans"/>
              </a:defRPr>
            </a:pPr>
            <a:r>
              <a:t>LIMITAÇÕES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7" y="2066543"/>
            <a:ext cx="1965960" cy="1709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2021 mistura o gap entre simulação e realidade com o drift sazonal.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Só a Divisão A e seis jogos por temporada.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ADE é uma métrica single-mode.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508760"/>
            <a:ext cx="2514600" cy="242316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1709928"/>
            <a:ext cx="64008" cy="2020824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1709928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D0DE3"/>
                </a:solidFill>
                <a:latin typeface="Google Sans"/>
              </a:defRPr>
            </a:pPr>
            <a:r>
              <a:t>CUIDADO OPERACIONAL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2066543"/>
            <a:ext cx="1965960" cy="1709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Normalização robusta pressupõe drift gradual.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Há autocorrelação entre trajetórias.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A fração residual de concept drift não foi isolada por variável.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0176" y="1508760"/>
            <a:ext cx="2514600" cy="242316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44768" y="1709928"/>
            <a:ext cx="64008" cy="2020824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1709928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D0DE3"/>
                </a:solidFill>
                <a:latin typeface="Google Sans"/>
              </a:defRPr>
            </a:pPr>
            <a:r>
              <a:t>PRÓXIMOS PASSOS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066543"/>
            <a:ext cx="1965960" cy="1709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Retreinar o encoder.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Escalar o replay ponderado.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A5852"/>
                </a:solidFill>
                <a:latin typeface="Google Sans"/>
              </a:defRPr>
            </a:pPr>
            <a:r>
              <a:t>Avaliar preditores multimodais e mais temporadas.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E0D0B"/>
                </a:solidFill>
                <a:latin typeface="Google Sans"/>
              </a:defRPr>
            </a:pPr>
            <a:r>
              <a:t>Referências essenciais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D0DE3"/>
                </a:solidFill>
                <a:latin typeface="Google Sans"/>
              </a:defRPr>
            </a:pPr>
            <a:r>
              <a:t>Trabalhos que estruturam o modelo, o diagnóstico e a detecção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70432"/>
            <a:ext cx="8138160" cy="0"/>
          </a:xfrm>
          <a:prstGeom prst="line">
            <a:avLst/>
          </a:prstGeom>
          <a:ln w="8890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27448"/>
            <a:ext cx="348725" cy="1463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727448"/>
            <a:ext cx="428378" cy="14630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727448"/>
            <a:ext cx="146304" cy="146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E9B92"/>
                </a:solidFill>
                <a:latin typeface="Google Sans"/>
              </a:defRPr>
            </a:pPr>
            <a: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7635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A5852"/>
                </a:solidFill>
                <a:latin typeface="Google Sans"/>
              </a:defRPr>
            </a:pPr>
            <a:r>
              <a:t>Steuernagel, L.; Máximo, M. R. O. A. Trajectory prediction for SSL robots using seq2seq neural networks. RoboCup 2022, LNCS 13561, Springer, 2023.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1965960"/>
            <a:ext cx="7589520" cy="0"/>
          </a:xfrm>
          <a:prstGeom prst="line">
            <a:avLst/>
          </a:prstGeom>
          <a:ln w="5715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167128"/>
            <a:ext cx="7635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A5852"/>
                </a:solidFill>
                <a:latin typeface="Google Sans"/>
              </a:defRPr>
            </a:pPr>
            <a:r>
              <a:t>Gama, J. et al. A survey on concept drift adaptation. ACM Computing Surveys, 2014.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2624328"/>
            <a:ext cx="7589520" cy="0"/>
          </a:xfrm>
          <a:prstGeom prst="line">
            <a:avLst/>
          </a:prstGeom>
          <a:ln w="5715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2825496"/>
            <a:ext cx="7635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A5852"/>
                </a:solidFill>
                <a:latin typeface="Google Sans"/>
              </a:defRPr>
            </a:pPr>
            <a:r>
              <a:t>Bifet, A.; Gavaldà, R. Learning from time-changing data with adaptive windowing (ADWIN). SDM, 2007.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3282696"/>
            <a:ext cx="7589520" cy="0"/>
          </a:xfrm>
          <a:prstGeom prst="line">
            <a:avLst/>
          </a:prstGeom>
          <a:ln w="5715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3483864"/>
            <a:ext cx="7635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A5852"/>
                </a:solidFill>
                <a:latin typeface="Google Sans"/>
              </a:defRPr>
            </a:pPr>
            <a:r>
              <a:t>Kanamori, T.; Hido, S.; Sugiyama, M. A least-squares approach to direct importance estimation (LSIF). JMLR, 2009.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3941064"/>
            <a:ext cx="7589520" cy="0"/>
          </a:xfrm>
          <a:prstGeom prst="line">
            <a:avLst/>
          </a:prstGeom>
          <a:ln w="5715">
            <a:solidFill>
              <a:srgbClr val="D7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143000"/>
            <a:ext cx="1198741" cy="5029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1472550" cy="5029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79" y="114300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E0D0B"/>
                </a:solidFill>
                <a:latin typeface="Google Sans"/>
              </a:defRPr>
            </a:pPr>
            <a:r>
              <a:t>Obrigado!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8D0DE3"/>
                </a:solidFill>
                <a:latin typeface="Google Sans"/>
              </a:defRPr>
            </a:pPr>
            <a:r>
              <a:t>Perguntas e discussão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3886200"/>
            <a:ext cx="1188720" cy="50292"/>
          </a:xfrm>
          <a:prstGeom prst="roundRect">
            <a:avLst>
              <a:gd name="adj" fmla="val 8000"/>
            </a:avLst>
          </a:prstGeom>
          <a:solidFill>
            <a:srgbClr val="8D0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Data Drift em um modelo Seq2Seq para predição de trajetórias na RoboCup SSL</dc:title>
  <cp:lastModifiedBy>python-pptx</cp:lastModifiedBy>
  <cp:revision>1</cp:revision>
  <dcterms:modified xsi:type="dcterms:W3CDTF">2026-08-05T00:30:23Z</dcterms:modified>
  <dc:subject>Apresentação de Iniciação Científica</dc:subject>
  <dc:creator>Ivan G. Yamasaki</dc:creator>
</cp:coreProperties>
</file>